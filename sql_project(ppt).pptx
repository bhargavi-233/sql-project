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6"/>
  </p:notesMasterIdLst>
  <p:sldIdLst>
    <p:sldId id="256" r:id="rId2"/>
    <p:sldId id="268" r:id="rId3"/>
    <p:sldId id="269" r:id="rId4"/>
    <p:sldId id="260" r:id="rId5"/>
    <p:sldId id="261" r:id="rId6"/>
    <p:sldId id="270" r:id="rId7"/>
    <p:sldId id="263" r:id="rId8"/>
    <p:sldId id="278" r:id="rId9"/>
    <p:sldId id="280" r:id="rId10"/>
    <p:sldId id="292" r:id="rId11"/>
    <p:sldId id="282" r:id="rId12"/>
    <p:sldId id="283" r:id="rId13"/>
    <p:sldId id="284" r:id="rId14"/>
    <p:sldId id="285" r:id="rId15"/>
    <p:sldId id="286" r:id="rId16"/>
    <p:sldId id="287" r:id="rId17"/>
    <p:sldId id="288" r:id="rId18"/>
    <p:sldId id="289" r:id="rId19"/>
    <p:sldId id="290" r:id="rId20"/>
    <p:sldId id="291" r:id="rId21"/>
    <p:sldId id="293" r:id="rId22"/>
    <p:sldId id="271" r:id="rId23"/>
    <p:sldId id="272" r:id="rId24"/>
    <p:sldId id="259" r:id="rId25"/>
  </p:sldIdLst>
  <p:sldSz cx="12192000" cy="6858000"/>
  <p:notesSz cx="6858000" cy="9144000"/>
  <p:embeddedFontLst>
    <p:embeddedFont>
      <p:font typeface="Algerian" panose="04020705040A02060702" pitchFamily="82" charset="0"/>
      <p:regular r:id="rId27"/>
    </p:embeddedFont>
    <p:embeddedFont>
      <p:font typeface="Calibri" panose="020F0502020204030204" pitchFamily="34" charset="0"/>
      <p:regular r:id="rId28"/>
      <p:bold r:id="rId29"/>
      <p:italic r:id="rId30"/>
      <p:boldItalic r:id="rId31"/>
    </p:embeddedFont>
    <p:embeddedFont>
      <p:font typeface="Libre Baskerville" panose="020B0604020202020204" charset="0"/>
      <p:regular r:id="rId32"/>
      <p:bold r:id="rId33"/>
      <p:italic r:id="rId34"/>
    </p:embeddedFont>
    <p:embeddedFont>
      <p:font typeface="Roboto" panose="02000000000000000000" pitchFamily="2" charset="0"/>
      <p:regular r:id="rId35"/>
      <p:bold r:id="rId36"/>
      <p:italic r:id="rId37"/>
      <p:boldItalic r:id="rId38"/>
    </p:embeddedFont>
    <p:embeddedFont>
      <p:font typeface="Tw Cen MT" panose="020B0602020104020603" pitchFamily="34" charset="0"/>
      <p:regular r:id="rId39"/>
      <p:bold r:id="rId40"/>
      <p:italic r:id="rId41"/>
      <p:boldItalic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5.fntdata"/></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E1E824-7F71-4EE6-839F-6BCC9740A658}" type="doc">
      <dgm:prSet loTypeId="urn:microsoft.com/office/officeart/2005/8/layout/vProcess5" loCatId="process" qsTypeId="urn:microsoft.com/office/officeart/2005/8/quickstyle/simple4" qsCatId="simple" csTypeId="urn:microsoft.com/office/officeart/2005/8/colors/accent3_1" csCatId="accent3" phldr="1"/>
      <dgm:spPr/>
    </dgm:pt>
    <dgm:pt modelId="{8A5BE1A9-B1E4-48C8-A017-E23422D716ED}">
      <dgm:prSet phldrT="[Text]" custT="1"/>
      <dgm:spPr/>
      <dgm:t>
        <a:bodyPr/>
        <a:lstStyle/>
        <a:p>
          <a:r>
            <a:rPr lang="en-US" sz="2400" dirty="0">
              <a:latin typeface="Times New Roman" panose="02020603050405020304" pitchFamily="18" charset="0"/>
              <a:cs typeface="Times New Roman" panose="02020603050405020304" pitchFamily="18" charset="0"/>
            </a:rPr>
            <a:t>While energy consumption is the primary engine of global economic growth, it remains the leading driver of environmental degradation. Stakeholders currently lack an integrated analytical framework to visualize the complex trade-offs between economic power (GDP), population dynamics, and carbon footprints, hindering the identification of critical energy deficits and actionable strategies for global sustainability.</a:t>
          </a:r>
          <a:endParaRPr lang="en-US" sz="2400" dirty="0"/>
        </a:p>
      </dgm:t>
    </dgm:pt>
    <dgm:pt modelId="{3B0AB022-4E8A-48BD-9CA3-BD8E74E2A5FC}" type="parTrans" cxnId="{DBF1954D-8F1A-4B79-90B1-32D3AD150F69}">
      <dgm:prSet/>
      <dgm:spPr/>
      <dgm:t>
        <a:bodyPr/>
        <a:lstStyle/>
        <a:p>
          <a:endParaRPr lang="en-US"/>
        </a:p>
      </dgm:t>
    </dgm:pt>
    <dgm:pt modelId="{A8F0756D-A703-4985-8F7D-A126BC66D5D9}" type="sibTrans" cxnId="{DBF1954D-8F1A-4B79-90B1-32D3AD150F69}">
      <dgm:prSet/>
      <dgm:spPr/>
      <dgm:t>
        <a:bodyPr/>
        <a:lstStyle/>
        <a:p>
          <a:endParaRPr lang="en-US"/>
        </a:p>
      </dgm:t>
    </dgm:pt>
    <dgm:pt modelId="{92323602-1641-4A87-9616-78E847E40B33}" type="pres">
      <dgm:prSet presAssocID="{89E1E824-7F71-4EE6-839F-6BCC9740A658}" presName="outerComposite" presStyleCnt="0">
        <dgm:presLayoutVars>
          <dgm:chMax val="5"/>
          <dgm:dir/>
          <dgm:resizeHandles val="exact"/>
        </dgm:presLayoutVars>
      </dgm:prSet>
      <dgm:spPr/>
    </dgm:pt>
    <dgm:pt modelId="{B73EB715-37C8-4993-B67B-AFB711DC414D}" type="pres">
      <dgm:prSet presAssocID="{89E1E824-7F71-4EE6-839F-6BCC9740A658}" presName="dummyMaxCanvas" presStyleCnt="0">
        <dgm:presLayoutVars/>
      </dgm:prSet>
      <dgm:spPr/>
    </dgm:pt>
    <dgm:pt modelId="{169B86C5-3F6C-44CB-B2F4-04FC5D971F6F}" type="pres">
      <dgm:prSet presAssocID="{89E1E824-7F71-4EE6-839F-6BCC9740A658}" presName="OneNode_1" presStyleLbl="node1" presStyleIdx="0" presStyleCnt="1" custLinFactNeighborY="-10952">
        <dgm:presLayoutVars>
          <dgm:bulletEnabled val="1"/>
        </dgm:presLayoutVars>
      </dgm:prSet>
      <dgm:spPr/>
    </dgm:pt>
  </dgm:ptLst>
  <dgm:cxnLst>
    <dgm:cxn modelId="{DBF1954D-8F1A-4B79-90B1-32D3AD150F69}" srcId="{89E1E824-7F71-4EE6-839F-6BCC9740A658}" destId="{8A5BE1A9-B1E4-48C8-A017-E23422D716ED}" srcOrd="0" destOrd="0" parTransId="{3B0AB022-4E8A-48BD-9CA3-BD8E74E2A5FC}" sibTransId="{A8F0756D-A703-4985-8F7D-A126BC66D5D9}"/>
    <dgm:cxn modelId="{A18002A5-1E52-48BD-85C8-886DAF8DDFE7}" type="presOf" srcId="{89E1E824-7F71-4EE6-839F-6BCC9740A658}" destId="{92323602-1641-4A87-9616-78E847E40B33}" srcOrd="0" destOrd="0" presId="urn:microsoft.com/office/officeart/2005/8/layout/vProcess5"/>
    <dgm:cxn modelId="{01F806EC-21B6-42FA-80C9-2D78E4914CF9}" type="presOf" srcId="{8A5BE1A9-B1E4-48C8-A017-E23422D716ED}" destId="{169B86C5-3F6C-44CB-B2F4-04FC5D971F6F}" srcOrd="0" destOrd="0" presId="urn:microsoft.com/office/officeart/2005/8/layout/vProcess5"/>
    <dgm:cxn modelId="{47E747C9-F040-4972-BA0F-8FCEA0D1F316}" type="presParOf" srcId="{92323602-1641-4A87-9616-78E847E40B33}" destId="{B73EB715-37C8-4993-B67B-AFB711DC414D}" srcOrd="0" destOrd="0" presId="urn:microsoft.com/office/officeart/2005/8/layout/vProcess5"/>
    <dgm:cxn modelId="{8472AD61-B725-4825-9115-986C071BF09C}" type="presParOf" srcId="{92323602-1641-4A87-9616-78E847E40B33}" destId="{169B86C5-3F6C-44CB-B2F4-04FC5D971F6F}" srcOrd="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9B86C5-3F6C-44CB-B2F4-04FC5D971F6F}">
      <dsp:nvSpPr>
        <dsp:cNvPr id="0" name=""/>
        <dsp:cNvSpPr/>
      </dsp:nvSpPr>
      <dsp:spPr>
        <a:xfrm>
          <a:off x="0" y="1086750"/>
          <a:ext cx="12192000" cy="2783114"/>
        </a:xfrm>
        <a:prstGeom prst="roundRect">
          <a:avLst>
            <a:gd name="adj" fmla="val 10000"/>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While energy consumption is the primary engine of global economic growth, it remains the leading driver of environmental degradation. Stakeholders currently lack an integrated analytical framework to visualize the complex trade-offs between economic power (GDP), population dynamics, and carbon footprints, hindering the identification of critical energy deficits and actionable strategies for global sustainability.</a:t>
          </a:r>
          <a:endParaRPr lang="en-US" sz="2400" kern="1200" dirty="0"/>
        </a:p>
      </dsp:txBody>
      <dsp:txXfrm>
        <a:off x="81515" y="1168265"/>
        <a:ext cx="12028970" cy="262008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9686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07070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56180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376632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13277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78610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57797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335625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217528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3234883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258541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9910404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884457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410184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0403752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38920995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636065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846370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1_Content with Caption">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40635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srcRect/>
          <a:tile tx="0" ty="0" sx="100000" sy="100000" flip="none" algn="tl"/>
        </a:blip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936773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39.jpe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 Id="rId4" Type="http://schemas.openxmlformats.org/officeDocument/2006/relationships/image" Target="../media/image5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26126"/>
            <a:ext cx="12190815" cy="6694098"/>
          </a:xfrm>
          <a:prstGeom prst="rect">
            <a:avLst/>
          </a:prstGeom>
          <a:noFill/>
          <a:ln>
            <a:noFill/>
          </a:ln>
        </p:spPr>
      </p:pic>
      <p:sp>
        <p:nvSpPr>
          <p:cNvPr id="99" name="Google Shape;99;p1"/>
          <p:cNvSpPr txBox="1"/>
          <p:nvPr/>
        </p:nvSpPr>
        <p:spPr>
          <a:xfrm>
            <a:off x="2472904" y="3717986"/>
            <a:ext cx="7246189"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2800" b="1" i="0" u="none" strike="noStrike" cap="none" dirty="0">
                <a:solidFill>
                  <a:schemeClr val="dk1"/>
                </a:solidFill>
                <a:latin typeface="Calibri"/>
                <a:ea typeface="Calibri"/>
                <a:cs typeface="Calibri"/>
                <a:sym typeface="Calibri"/>
              </a:rPr>
            </a:br>
            <a:r>
              <a:rPr lang="en-US" sz="2800" b="1" i="0" dirty="0">
                <a:solidFill>
                  <a:srgbClr val="202124"/>
                </a:solidFill>
                <a:effectLst/>
                <a:latin typeface="Roboto" panose="020B0604020202020204" pitchFamily="2" charset="0"/>
              </a:rPr>
              <a:t>Energy Consumption Analysis</a:t>
            </a:r>
            <a:endParaRPr sz="2800" b="1" i="0" u="none" strike="noStrike" cap="none" dirty="0">
              <a:solidFill>
                <a:srgbClr val="000000"/>
              </a:solidFill>
              <a:latin typeface="Arial"/>
              <a:ea typeface="Arial"/>
              <a:cs typeface="Arial"/>
              <a:sym typeface="Aria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40CC-3DBA-4960-ADFE-AAE9BF5B5FEB}"/>
              </a:ext>
            </a:extLst>
          </p:cNvPr>
          <p:cNvSpPr>
            <a:spLocks noGrp="1"/>
          </p:cNvSpPr>
          <p:nvPr>
            <p:ph type="title"/>
          </p:nvPr>
        </p:nvSpPr>
        <p:spPr>
          <a:xfrm>
            <a:off x="838200" y="338999"/>
            <a:ext cx="9468394" cy="1325563"/>
          </a:xfrm>
        </p:spPr>
        <p:txBody>
          <a:bodyPr>
            <a:normAutofit/>
          </a:bodyPr>
          <a:lstStyle/>
          <a:p>
            <a:pPr algn="ctr"/>
            <a:r>
              <a:rPr lang="en-IN" sz="3200" b="1" dirty="0">
                <a:latin typeface="Algerian" panose="04020705040A02060702" pitchFamily="82" charset="0"/>
                <a:cs typeface="Times New Roman" panose="02020603050405020304" pitchFamily="18" charset="0"/>
              </a:rPr>
              <a:t>Objective of the Project</a:t>
            </a:r>
            <a:br>
              <a:rPr lang="en-IN" sz="3200" dirty="0">
                <a:latin typeface="Algerian" panose="04020705040A02060702" pitchFamily="82" charset="0"/>
                <a:cs typeface="Times New Roman" panose="02020603050405020304" pitchFamily="18" charset="0"/>
              </a:rPr>
            </a:br>
            <a:endParaRPr lang="en-US" sz="3200" dirty="0">
              <a:latin typeface="Algerian" panose="04020705040A02060702" pitchFamily="82" charset="0"/>
              <a:cs typeface="Times New Roman" panose="02020603050405020304" pitchFamily="18" charset="0"/>
            </a:endParaRPr>
          </a:p>
        </p:txBody>
      </p:sp>
      <p:sp>
        <p:nvSpPr>
          <p:cNvPr id="4" name="Rectangle 1">
            <a:extLst>
              <a:ext uri="{FF2B5EF4-FFF2-40B4-BE49-F238E27FC236}">
                <a16:creationId xmlns:a16="http://schemas.microsoft.com/office/drawing/2014/main" id="{B3ACD8B6-28E6-466F-B926-ED3916597B43}"/>
              </a:ext>
            </a:extLst>
          </p:cNvPr>
          <p:cNvSpPr>
            <a:spLocks noGrp="1" noChangeArrowheads="1"/>
          </p:cNvSpPr>
          <p:nvPr>
            <p:ph type="body" idx="1"/>
          </p:nvPr>
        </p:nvSpPr>
        <p:spPr bwMode="auto">
          <a:xfrm>
            <a:off x="484094" y="982177"/>
            <a:ext cx="10327341"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 is the primary engine of economic growth but also the leading driver of environmental change.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Leveraging authoritative </a:t>
            </a:r>
            <a:r>
              <a:rPr lang="en-US" altLang="en-US" sz="2400" dirty="0">
                <a:solidFill>
                  <a:schemeClr val="tx1"/>
                </a:solidFill>
                <a:latin typeface="Times New Roman" panose="02020603050405020304" pitchFamily="18" charset="0"/>
                <a:cs typeface="Times New Roman" panose="02020603050405020304" pitchFamily="18" charset="0"/>
              </a:rPr>
              <a:t>various countries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structured in a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relational database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integrate five critical dimensions to model reality:</a:t>
            </a:r>
          </a:p>
          <a:p>
            <a:pPr marL="0" indent="0" eaLnBrk="0" fontAlgn="base" hangingPunct="0">
              <a:lnSpc>
                <a:spcPct val="100000"/>
              </a:lnSpc>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Energy Consumption &amp; Production</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cap="none" dirty="0">
                <a:latin typeface="Times New Roman" panose="02020603050405020304" pitchFamily="18" charset="0"/>
                <a:cs typeface="Times New Roman" panose="02020603050405020304" pitchFamily="18" charset="0"/>
              </a:rPr>
              <a:t>          2.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CO2 Emissions</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cap="none" dirty="0">
                <a:latin typeface="Times New Roman" panose="02020603050405020304" pitchFamily="18" charset="0"/>
                <a:cs typeface="Times New Roman" panose="02020603050405020304" pitchFamily="18" charset="0"/>
              </a:rPr>
              <a:t>          3.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Power (GDP)</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cap="none" dirty="0">
                <a:latin typeface="Times New Roman" panose="02020603050405020304" pitchFamily="18" charset="0"/>
                <a:cs typeface="Times New Roman" panose="02020603050405020304" pitchFamily="18" charset="0"/>
              </a:rPr>
              <a:t>          4.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Demographics (Population)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visualize the correlation between a nation's wealth and its environmental footprint, identifying trends in global sustainability.</a:t>
            </a:r>
          </a:p>
        </p:txBody>
      </p:sp>
    </p:spTree>
    <p:extLst>
      <p:ext uri="{BB962C8B-B14F-4D97-AF65-F5344CB8AC3E}">
        <p14:creationId xmlns:p14="http://schemas.microsoft.com/office/powerpoint/2010/main" val="127785417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F3A21-4D34-4025-B100-12D358213E57}"/>
              </a:ext>
            </a:extLst>
          </p:cNvPr>
          <p:cNvSpPr>
            <a:spLocks noGrp="1"/>
          </p:cNvSpPr>
          <p:nvPr>
            <p:ph type="title"/>
          </p:nvPr>
        </p:nvSpPr>
        <p:spPr>
          <a:xfrm>
            <a:off x="838200" y="365125"/>
            <a:ext cx="10265229" cy="1325563"/>
          </a:xfrm>
        </p:spPr>
        <p:txBody>
          <a:bodyPr>
            <a:normAutofit/>
          </a:bodyPr>
          <a:lstStyle/>
          <a:p>
            <a:pPr algn="ctr"/>
            <a:r>
              <a:rPr lang="en-IN" sz="3200" b="1" dirty="0">
                <a:latin typeface="Algerian" panose="04020705040A02060702" pitchFamily="82" charset="0"/>
              </a:rPr>
              <a:t>ER Diagram and schema explanation</a:t>
            </a:r>
            <a:br>
              <a:rPr lang="en-IN" sz="3200" dirty="0">
                <a:latin typeface="Algerian" panose="04020705040A02060702" pitchFamily="82" charset="0"/>
              </a:rPr>
            </a:br>
            <a:endParaRPr lang="en-US" sz="3200" dirty="0">
              <a:latin typeface="Algerian" panose="04020705040A02060702" pitchFamily="82" charset="0"/>
            </a:endParaRPr>
          </a:p>
        </p:txBody>
      </p:sp>
      <p:pic>
        <p:nvPicPr>
          <p:cNvPr id="4" name="Picture 3">
            <a:extLst>
              <a:ext uri="{FF2B5EF4-FFF2-40B4-BE49-F238E27FC236}">
                <a16:creationId xmlns:a16="http://schemas.microsoft.com/office/drawing/2014/main" id="{7E264EB3-0DEB-4029-B9D6-AB42F1080629}"/>
              </a:ext>
            </a:extLst>
          </p:cNvPr>
          <p:cNvPicPr>
            <a:picLocks noChangeAspect="1"/>
          </p:cNvPicPr>
          <p:nvPr/>
        </p:nvPicPr>
        <p:blipFill>
          <a:blip r:embed="rId2"/>
          <a:stretch>
            <a:fillRect/>
          </a:stretch>
        </p:blipFill>
        <p:spPr>
          <a:xfrm>
            <a:off x="2009025" y="1503161"/>
            <a:ext cx="7572375" cy="4708042"/>
          </a:xfrm>
          <a:prstGeom prst="rect">
            <a:avLst/>
          </a:prstGeom>
        </p:spPr>
      </p:pic>
    </p:spTree>
    <p:extLst>
      <p:ext uri="{BB962C8B-B14F-4D97-AF65-F5344CB8AC3E}">
        <p14:creationId xmlns:p14="http://schemas.microsoft.com/office/powerpoint/2010/main" val="61213207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DEBA4D3-CC8D-4CEA-A75D-EE0788DFB482}"/>
              </a:ext>
            </a:extLst>
          </p:cNvPr>
          <p:cNvSpPr>
            <a:spLocks noGrp="1"/>
          </p:cNvSpPr>
          <p:nvPr>
            <p:ph type="body" idx="1"/>
          </p:nvPr>
        </p:nvSpPr>
        <p:spPr>
          <a:xfrm>
            <a:off x="757238" y="557213"/>
            <a:ext cx="10598150" cy="5308599"/>
          </a:xfrm>
        </p:spPr>
        <p:txBody>
          <a:bodyPr/>
          <a:lstStyle/>
          <a:p>
            <a:pPr marL="25400" indent="0" algn="ctr">
              <a:buNone/>
            </a:pPr>
            <a:r>
              <a:rPr lang="en-US" dirty="0">
                <a:latin typeface="Algerian" panose="04020705040A02060702" pitchFamily="82" charset="0"/>
              </a:rPr>
              <a:t>TABLES</a:t>
            </a:r>
          </a:p>
        </p:txBody>
      </p:sp>
      <p:pic>
        <p:nvPicPr>
          <p:cNvPr id="8" name="Picture 7">
            <a:extLst>
              <a:ext uri="{FF2B5EF4-FFF2-40B4-BE49-F238E27FC236}">
                <a16:creationId xmlns:a16="http://schemas.microsoft.com/office/drawing/2014/main" id="{BA36DE5A-E0ED-46D2-9440-5CCD0877D241}"/>
              </a:ext>
            </a:extLst>
          </p:cNvPr>
          <p:cNvPicPr>
            <a:picLocks noChangeAspect="1"/>
          </p:cNvPicPr>
          <p:nvPr/>
        </p:nvPicPr>
        <p:blipFill>
          <a:blip r:embed="rId2"/>
          <a:stretch>
            <a:fillRect/>
          </a:stretch>
        </p:blipFill>
        <p:spPr>
          <a:xfrm>
            <a:off x="1147538" y="1770426"/>
            <a:ext cx="4310287" cy="1495287"/>
          </a:xfrm>
          <a:prstGeom prst="rect">
            <a:avLst/>
          </a:prstGeom>
        </p:spPr>
      </p:pic>
      <p:sp>
        <p:nvSpPr>
          <p:cNvPr id="9" name="TextBox 8">
            <a:extLst>
              <a:ext uri="{FF2B5EF4-FFF2-40B4-BE49-F238E27FC236}">
                <a16:creationId xmlns:a16="http://schemas.microsoft.com/office/drawing/2014/main" id="{34CB60C3-7EFC-43D9-9275-8F163845D0BC}"/>
              </a:ext>
            </a:extLst>
          </p:cNvPr>
          <p:cNvSpPr txBox="1"/>
          <p:nvPr/>
        </p:nvSpPr>
        <p:spPr>
          <a:xfrm>
            <a:off x="1271588" y="1353445"/>
            <a:ext cx="3257550" cy="307777"/>
          </a:xfrm>
          <a:prstGeom prst="rect">
            <a:avLst/>
          </a:prstGeom>
          <a:noFill/>
        </p:spPr>
        <p:txBody>
          <a:bodyPr wrap="square" rtlCol="0">
            <a:spAutoFit/>
          </a:bodyPr>
          <a:lstStyle/>
          <a:p>
            <a:r>
              <a:rPr lang="en-US" dirty="0"/>
              <a:t>COUNTRY TABLE</a:t>
            </a:r>
          </a:p>
        </p:txBody>
      </p:sp>
      <p:pic>
        <p:nvPicPr>
          <p:cNvPr id="13" name="Picture 12">
            <a:extLst>
              <a:ext uri="{FF2B5EF4-FFF2-40B4-BE49-F238E27FC236}">
                <a16:creationId xmlns:a16="http://schemas.microsoft.com/office/drawing/2014/main" id="{1D3DECEC-D5B3-4979-8801-834C43752518}"/>
              </a:ext>
            </a:extLst>
          </p:cNvPr>
          <p:cNvPicPr>
            <a:picLocks noChangeAspect="1"/>
          </p:cNvPicPr>
          <p:nvPr/>
        </p:nvPicPr>
        <p:blipFill>
          <a:blip r:embed="rId3"/>
          <a:stretch>
            <a:fillRect/>
          </a:stretch>
        </p:blipFill>
        <p:spPr>
          <a:xfrm>
            <a:off x="6548213" y="1757364"/>
            <a:ext cx="4310287" cy="1495286"/>
          </a:xfrm>
          <a:prstGeom prst="rect">
            <a:avLst/>
          </a:prstGeom>
        </p:spPr>
      </p:pic>
      <p:sp>
        <p:nvSpPr>
          <p:cNvPr id="14" name="TextBox 13">
            <a:extLst>
              <a:ext uri="{FF2B5EF4-FFF2-40B4-BE49-F238E27FC236}">
                <a16:creationId xmlns:a16="http://schemas.microsoft.com/office/drawing/2014/main" id="{59DC4C7C-B938-426C-8DF9-575AFB199FFD}"/>
              </a:ext>
            </a:extLst>
          </p:cNvPr>
          <p:cNvSpPr txBox="1"/>
          <p:nvPr/>
        </p:nvSpPr>
        <p:spPr>
          <a:xfrm>
            <a:off x="7600950" y="1353444"/>
            <a:ext cx="3257550" cy="307777"/>
          </a:xfrm>
          <a:prstGeom prst="rect">
            <a:avLst/>
          </a:prstGeom>
          <a:noFill/>
        </p:spPr>
        <p:txBody>
          <a:bodyPr wrap="square" rtlCol="0">
            <a:spAutoFit/>
          </a:bodyPr>
          <a:lstStyle/>
          <a:p>
            <a:r>
              <a:rPr lang="en-US" dirty="0"/>
              <a:t>EMISSION_3 TABLE</a:t>
            </a:r>
          </a:p>
        </p:txBody>
      </p:sp>
      <p:pic>
        <p:nvPicPr>
          <p:cNvPr id="16" name="Picture 15">
            <a:extLst>
              <a:ext uri="{FF2B5EF4-FFF2-40B4-BE49-F238E27FC236}">
                <a16:creationId xmlns:a16="http://schemas.microsoft.com/office/drawing/2014/main" id="{8E486778-472D-49EE-84C9-12AB0D71A1A1}"/>
              </a:ext>
            </a:extLst>
          </p:cNvPr>
          <p:cNvPicPr>
            <a:picLocks noChangeAspect="1"/>
          </p:cNvPicPr>
          <p:nvPr/>
        </p:nvPicPr>
        <p:blipFill>
          <a:blip r:embed="rId4"/>
          <a:stretch>
            <a:fillRect/>
          </a:stretch>
        </p:blipFill>
        <p:spPr>
          <a:xfrm>
            <a:off x="3700463" y="4457649"/>
            <a:ext cx="4014787" cy="1317770"/>
          </a:xfrm>
          <a:prstGeom prst="rect">
            <a:avLst/>
          </a:prstGeom>
        </p:spPr>
      </p:pic>
      <p:sp>
        <p:nvSpPr>
          <p:cNvPr id="19" name="TextBox 18">
            <a:extLst>
              <a:ext uri="{FF2B5EF4-FFF2-40B4-BE49-F238E27FC236}">
                <a16:creationId xmlns:a16="http://schemas.microsoft.com/office/drawing/2014/main" id="{4A940AD9-F616-4E73-8091-2AA615904E46}"/>
              </a:ext>
            </a:extLst>
          </p:cNvPr>
          <p:cNvSpPr txBox="1"/>
          <p:nvPr/>
        </p:nvSpPr>
        <p:spPr>
          <a:xfrm>
            <a:off x="4724400" y="3993259"/>
            <a:ext cx="3257550" cy="307777"/>
          </a:xfrm>
          <a:prstGeom prst="rect">
            <a:avLst/>
          </a:prstGeom>
          <a:noFill/>
        </p:spPr>
        <p:txBody>
          <a:bodyPr wrap="square" rtlCol="0">
            <a:spAutoFit/>
          </a:bodyPr>
          <a:lstStyle/>
          <a:p>
            <a:r>
              <a:rPr lang="en-US" dirty="0"/>
              <a:t>POPULATION TABLE</a:t>
            </a:r>
          </a:p>
        </p:txBody>
      </p:sp>
    </p:spTree>
    <p:extLst>
      <p:ext uri="{BB962C8B-B14F-4D97-AF65-F5344CB8AC3E}">
        <p14:creationId xmlns:p14="http://schemas.microsoft.com/office/powerpoint/2010/main" val="55881935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15BF-3D5D-47E7-B56D-ECAA7F1A526B}"/>
              </a:ext>
            </a:extLst>
          </p:cNvPr>
          <p:cNvSpPr>
            <a:spLocks noGrp="1"/>
          </p:cNvSpPr>
          <p:nvPr>
            <p:ph type="title"/>
          </p:nvPr>
        </p:nvSpPr>
        <p:spPr>
          <a:xfrm>
            <a:off x="534952" y="646876"/>
            <a:ext cx="10364451" cy="867285"/>
          </a:xfrm>
        </p:spPr>
        <p:txBody>
          <a:bodyPr>
            <a:normAutofit/>
          </a:bodyPr>
          <a:lstStyle/>
          <a:p>
            <a:r>
              <a:rPr lang="en-US" sz="3200" dirty="0">
                <a:latin typeface="Algerian" panose="04020705040A02060702" pitchFamily="82" charset="0"/>
              </a:rPr>
              <a:t>TABLES</a:t>
            </a:r>
          </a:p>
        </p:txBody>
      </p:sp>
      <p:pic>
        <p:nvPicPr>
          <p:cNvPr id="4" name="Picture 3">
            <a:extLst>
              <a:ext uri="{FF2B5EF4-FFF2-40B4-BE49-F238E27FC236}">
                <a16:creationId xmlns:a16="http://schemas.microsoft.com/office/drawing/2014/main" id="{67C84E97-60A4-4123-9EB8-B77A1AD9203B}"/>
              </a:ext>
            </a:extLst>
          </p:cNvPr>
          <p:cNvPicPr>
            <a:picLocks noChangeAspect="1"/>
          </p:cNvPicPr>
          <p:nvPr/>
        </p:nvPicPr>
        <p:blipFill>
          <a:blip r:embed="rId2"/>
          <a:stretch>
            <a:fillRect/>
          </a:stretch>
        </p:blipFill>
        <p:spPr>
          <a:xfrm>
            <a:off x="681037" y="2147987"/>
            <a:ext cx="4371976" cy="1681163"/>
          </a:xfrm>
          <a:prstGeom prst="rect">
            <a:avLst/>
          </a:prstGeom>
        </p:spPr>
      </p:pic>
      <p:sp>
        <p:nvSpPr>
          <p:cNvPr id="5" name="TextBox 4">
            <a:extLst>
              <a:ext uri="{FF2B5EF4-FFF2-40B4-BE49-F238E27FC236}">
                <a16:creationId xmlns:a16="http://schemas.microsoft.com/office/drawing/2014/main" id="{48D6A904-98B5-4EEA-8FA3-43E5427766A6}"/>
              </a:ext>
            </a:extLst>
          </p:cNvPr>
          <p:cNvSpPr txBox="1"/>
          <p:nvPr/>
        </p:nvSpPr>
        <p:spPr>
          <a:xfrm>
            <a:off x="1652588" y="1663006"/>
            <a:ext cx="3257550" cy="369332"/>
          </a:xfrm>
          <a:prstGeom prst="rect">
            <a:avLst/>
          </a:prstGeom>
          <a:noFill/>
        </p:spPr>
        <p:txBody>
          <a:bodyPr wrap="square" rtlCol="0">
            <a:spAutoFit/>
          </a:bodyPr>
          <a:lstStyle/>
          <a:p>
            <a:r>
              <a:rPr lang="en-US" dirty="0"/>
              <a:t>PRODUCTION TABLE</a:t>
            </a:r>
          </a:p>
        </p:txBody>
      </p:sp>
      <p:pic>
        <p:nvPicPr>
          <p:cNvPr id="7" name="Picture 6">
            <a:extLst>
              <a:ext uri="{FF2B5EF4-FFF2-40B4-BE49-F238E27FC236}">
                <a16:creationId xmlns:a16="http://schemas.microsoft.com/office/drawing/2014/main" id="{7795FE6D-76EA-477C-9C71-F9134172E30B}"/>
              </a:ext>
            </a:extLst>
          </p:cNvPr>
          <p:cNvPicPr>
            <a:picLocks noChangeAspect="1"/>
          </p:cNvPicPr>
          <p:nvPr/>
        </p:nvPicPr>
        <p:blipFill>
          <a:blip r:embed="rId3"/>
          <a:stretch>
            <a:fillRect/>
          </a:stretch>
        </p:blipFill>
        <p:spPr>
          <a:xfrm>
            <a:off x="6096000" y="2177854"/>
            <a:ext cx="5414963" cy="1681163"/>
          </a:xfrm>
          <a:prstGeom prst="rect">
            <a:avLst/>
          </a:prstGeom>
        </p:spPr>
      </p:pic>
      <p:sp>
        <p:nvSpPr>
          <p:cNvPr id="8" name="TextBox 7">
            <a:extLst>
              <a:ext uri="{FF2B5EF4-FFF2-40B4-BE49-F238E27FC236}">
                <a16:creationId xmlns:a16="http://schemas.microsoft.com/office/drawing/2014/main" id="{F4956448-231B-4E44-9023-A045D28793A2}"/>
              </a:ext>
            </a:extLst>
          </p:cNvPr>
          <p:cNvSpPr txBox="1"/>
          <p:nvPr/>
        </p:nvSpPr>
        <p:spPr>
          <a:xfrm>
            <a:off x="7505701" y="1632646"/>
            <a:ext cx="3257550" cy="307777"/>
          </a:xfrm>
          <a:prstGeom prst="rect">
            <a:avLst/>
          </a:prstGeom>
          <a:noFill/>
        </p:spPr>
        <p:txBody>
          <a:bodyPr wrap="square" rtlCol="0">
            <a:spAutoFit/>
          </a:bodyPr>
          <a:lstStyle/>
          <a:p>
            <a:r>
              <a:rPr lang="en-US" dirty="0"/>
              <a:t>GDP TABLE</a:t>
            </a:r>
          </a:p>
        </p:txBody>
      </p:sp>
      <p:pic>
        <p:nvPicPr>
          <p:cNvPr id="10" name="Picture 9">
            <a:extLst>
              <a:ext uri="{FF2B5EF4-FFF2-40B4-BE49-F238E27FC236}">
                <a16:creationId xmlns:a16="http://schemas.microsoft.com/office/drawing/2014/main" id="{EC332B70-EAE6-4F4C-A13C-AC15553DF4FB}"/>
              </a:ext>
            </a:extLst>
          </p:cNvPr>
          <p:cNvPicPr>
            <a:picLocks noChangeAspect="1"/>
          </p:cNvPicPr>
          <p:nvPr/>
        </p:nvPicPr>
        <p:blipFill>
          <a:blip r:embed="rId4"/>
          <a:stretch>
            <a:fillRect/>
          </a:stretch>
        </p:blipFill>
        <p:spPr>
          <a:xfrm>
            <a:off x="3529013" y="4891027"/>
            <a:ext cx="4229100" cy="1325562"/>
          </a:xfrm>
          <a:prstGeom prst="rect">
            <a:avLst/>
          </a:prstGeom>
        </p:spPr>
      </p:pic>
      <p:sp>
        <p:nvSpPr>
          <p:cNvPr id="11" name="TextBox 10">
            <a:extLst>
              <a:ext uri="{FF2B5EF4-FFF2-40B4-BE49-F238E27FC236}">
                <a16:creationId xmlns:a16="http://schemas.microsoft.com/office/drawing/2014/main" id="{6E1DEAC9-91B7-4598-AE56-DABCCD8A88B4}"/>
              </a:ext>
            </a:extLst>
          </p:cNvPr>
          <p:cNvSpPr txBox="1"/>
          <p:nvPr/>
        </p:nvSpPr>
        <p:spPr>
          <a:xfrm>
            <a:off x="4362451" y="4346183"/>
            <a:ext cx="3257550" cy="307777"/>
          </a:xfrm>
          <a:prstGeom prst="rect">
            <a:avLst/>
          </a:prstGeom>
          <a:noFill/>
        </p:spPr>
        <p:txBody>
          <a:bodyPr wrap="square" rtlCol="0">
            <a:spAutoFit/>
          </a:bodyPr>
          <a:lstStyle/>
          <a:p>
            <a:r>
              <a:rPr lang="en-US" dirty="0"/>
              <a:t>CONSUMPTION TABLE</a:t>
            </a:r>
          </a:p>
        </p:txBody>
      </p:sp>
    </p:spTree>
    <p:extLst>
      <p:ext uri="{BB962C8B-B14F-4D97-AF65-F5344CB8AC3E}">
        <p14:creationId xmlns:p14="http://schemas.microsoft.com/office/powerpoint/2010/main" val="2348858799"/>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A3357D-F17B-455A-B5D2-1E7EBE30B166}"/>
              </a:ext>
            </a:extLst>
          </p:cNvPr>
          <p:cNvSpPr>
            <a:spLocks noGrp="1"/>
          </p:cNvSpPr>
          <p:nvPr>
            <p:ph type="title"/>
          </p:nvPr>
        </p:nvSpPr>
        <p:spPr>
          <a:xfrm>
            <a:off x="838200" y="339000"/>
            <a:ext cx="10515600" cy="1325563"/>
          </a:xfrm>
        </p:spPr>
        <p:txBody>
          <a:bodyPr>
            <a:normAutofit/>
          </a:bodyPr>
          <a:lstStyle/>
          <a:p>
            <a:pPr algn="ctr"/>
            <a:r>
              <a:rPr lang="en-US" sz="3200" b="1" dirty="0">
                <a:latin typeface="Algerian" panose="04020705040A02060702" pitchFamily="82" charset="0"/>
              </a:rPr>
              <a:t>Problem statement</a:t>
            </a:r>
            <a:endParaRPr lang="en-US" sz="3200" dirty="0">
              <a:latin typeface="Algerian" panose="04020705040A02060702" pitchFamily="82" charset="0"/>
            </a:endParaRPr>
          </a:p>
        </p:txBody>
      </p:sp>
      <p:graphicFrame>
        <p:nvGraphicFramePr>
          <p:cNvPr id="2" name="Diagram 1">
            <a:extLst>
              <a:ext uri="{FF2B5EF4-FFF2-40B4-BE49-F238E27FC236}">
                <a16:creationId xmlns:a16="http://schemas.microsoft.com/office/drawing/2014/main" id="{5DDC2119-4A0F-4FA3-AB76-E7BD8EEEB30F}"/>
              </a:ext>
            </a:extLst>
          </p:cNvPr>
          <p:cNvGraphicFramePr/>
          <p:nvPr>
            <p:extLst>
              <p:ext uri="{D42A27DB-BD31-4B8C-83A1-F6EECF244321}">
                <p14:modId xmlns:p14="http://schemas.microsoft.com/office/powerpoint/2010/main" val="206458530"/>
              </p:ext>
            </p:extLst>
          </p:nvPr>
        </p:nvGraphicFramePr>
        <p:xfrm>
          <a:off x="0" y="1291771"/>
          <a:ext cx="12192000" cy="5566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4" name="Picture 6" descr="Why is energy consumption increasing ...">
            <a:extLst>
              <a:ext uri="{FF2B5EF4-FFF2-40B4-BE49-F238E27FC236}">
                <a16:creationId xmlns:a16="http://schemas.microsoft.com/office/drawing/2014/main" id="{A98033E7-8D43-4F1B-842E-0226D7C600DB}"/>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8273143" y="4918799"/>
            <a:ext cx="3599541" cy="1743257"/>
          </a:xfrm>
          <a:prstGeom prst="rect">
            <a:avLst/>
          </a:prstGeom>
          <a:noFill/>
          <a:ln>
            <a:solidFill>
              <a:schemeClr val="tx1">
                <a:lumMod val="50000"/>
                <a:lumOff val="50000"/>
              </a:schemeClr>
            </a:solid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00523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C90D1-CF19-4D05-B4B2-4E53B46667D4}"/>
              </a:ext>
            </a:extLst>
          </p:cNvPr>
          <p:cNvSpPr>
            <a:spLocks noGrp="1"/>
          </p:cNvSpPr>
          <p:nvPr>
            <p:ph type="title"/>
          </p:nvPr>
        </p:nvSpPr>
        <p:spPr/>
        <p:txBody>
          <a:bodyPr>
            <a:normAutofit/>
          </a:bodyPr>
          <a:lstStyle/>
          <a:p>
            <a:r>
              <a:rPr lang="en-US" sz="3200" dirty="0">
                <a:latin typeface="Algerian" panose="04020705040A02060702" pitchFamily="82" charset="0"/>
              </a:rPr>
              <a:t>Efficiency &amp; Sustainability</a:t>
            </a:r>
            <a:br>
              <a:rPr lang="en-US" dirty="0"/>
            </a:br>
            <a:endParaRPr lang="en-US" dirty="0"/>
          </a:p>
        </p:txBody>
      </p:sp>
      <p:sp>
        <p:nvSpPr>
          <p:cNvPr id="3" name="TextBox 2">
            <a:extLst>
              <a:ext uri="{FF2B5EF4-FFF2-40B4-BE49-F238E27FC236}">
                <a16:creationId xmlns:a16="http://schemas.microsoft.com/office/drawing/2014/main" id="{DB2602C7-EF02-43D6-A747-DD7E40983EB3}"/>
              </a:ext>
            </a:extLst>
          </p:cNvPr>
          <p:cNvSpPr txBox="1"/>
          <p:nvPr/>
        </p:nvSpPr>
        <p:spPr>
          <a:xfrm>
            <a:off x="498566" y="1533565"/>
            <a:ext cx="10515600"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What is the emission-to-GDP ratio for each country over time?</a:t>
            </a:r>
          </a:p>
        </p:txBody>
      </p:sp>
      <p:pic>
        <p:nvPicPr>
          <p:cNvPr id="5" name="Picture 4">
            <a:extLst>
              <a:ext uri="{FF2B5EF4-FFF2-40B4-BE49-F238E27FC236}">
                <a16:creationId xmlns:a16="http://schemas.microsoft.com/office/drawing/2014/main" id="{9A67A251-A28D-43EC-9907-4D3388686DE2}"/>
              </a:ext>
            </a:extLst>
          </p:cNvPr>
          <p:cNvPicPr>
            <a:picLocks noChangeAspect="1"/>
          </p:cNvPicPr>
          <p:nvPr/>
        </p:nvPicPr>
        <p:blipFill>
          <a:blip r:embed="rId2"/>
          <a:stretch>
            <a:fillRect/>
          </a:stretch>
        </p:blipFill>
        <p:spPr>
          <a:xfrm>
            <a:off x="799361" y="2477485"/>
            <a:ext cx="5296639" cy="1480742"/>
          </a:xfrm>
          <a:prstGeom prst="rect">
            <a:avLst/>
          </a:prstGeom>
        </p:spPr>
      </p:pic>
      <p:pic>
        <p:nvPicPr>
          <p:cNvPr id="7" name="Picture 6">
            <a:extLst>
              <a:ext uri="{FF2B5EF4-FFF2-40B4-BE49-F238E27FC236}">
                <a16:creationId xmlns:a16="http://schemas.microsoft.com/office/drawing/2014/main" id="{5F908F45-27BE-4079-93D0-52305F794319}"/>
              </a:ext>
            </a:extLst>
          </p:cNvPr>
          <p:cNvPicPr>
            <a:picLocks noChangeAspect="1"/>
          </p:cNvPicPr>
          <p:nvPr/>
        </p:nvPicPr>
        <p:blipFill>
          <a:blip r:embed="rId3"/>
          <a:stretch>
            <a:fillRect/>
          </a:stretch>
        </p:blipFill>
        <p:spPr>
          <a:xfrm>
            <a:off x="7544065" y="2422095"/>
            <a:ext cx="4001058" cy="3562847"/>
          </a:xfrm>
          <a:prstGeom prst="rect">
            <a:avLst/>
          </a:prstGeom>
        </p:spPr>
      </p:pic>
      <p:pic>
        <p:nvPicPr>
          <p:cNvPr id="4098" name="Picture 2" descr="Energy Consumption Pictures | Download ...">
            <a:extLst>
              <a:ext uri="{FF2B5EF4-FFF2-40B4-BE49-F238E27FC236}">
                <a16:creationId xmlns:a16="http://schemas.microsoft.com/office/drawing/2014/main" id="{B987FEAD-DDEA-4726-A228-EC0997834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362" y="4691063"/>
            <a:ext cx="3525895" cy="1767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11262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B6E66E-26EA-4E15-8312-85D1ACE2DC66}"/>
              </a:ext>
            </a:extLst>
          </p:cNvPr>
          <p:cNvPicPr>
            <a:picLocks noChangeAspect="1"/>
          </p:cNvPicPr>
          <p:nvPr/>
        </p:nvPicPr>
        <p:blipFill>
          <a:blip r:embed="rId2"/>
          <a:stretch>
            <a:fillRect/>
          </a:stretch>
        </p:blipFill>
        <p:spPr>
          <a:xfrm>
            <a:off x="6570669" y="1989090"/>
            <a:ext cx="4248743" cy="3572374"/>
          </a:xfrm>
          <a:prstGeom prst="rect">
            <a:avLst/>
          </a:prstGeom>
        </p:spPr>
      </p:pic>
      <p:pic>
        <p:nvPicPr>
          <p:cNvPr id="8" name="Picture 7">
            <a:extLst>
              <a:ext uri="{FF2B5EF4-FFF2-40B4-BE49-F238E27FC236}">
                <a16:creationId xmlns:a16="http://schemas.microsoft.com/office/drawing/2014/main" id="{FC752E8D-93C4-4AD4-B78F-E44A0BE8905D}"/>
              </a:ext>
            </a:extLst>
          </p:cNvPr>
          <p:cNvPicPr>
            <a:picLocks noChangeAspect="1"/>
          </p:cNvPicPr>
          <p:nvPr/>
        </p:nvPicPr>
        <p:blipFill>
          <a:blip r:embed="rId3"/>
          <a:stretch>
            <a:fillRect/>
          </a:stretch>
        </p:blipFill>
        <p:spPr>
          <a:xfrm>
            <a:off x="768936" y="1940234"/>
            <a:ext cx="5087060" cy="1609950"/>
          </a:xfrm>
          <a:prstGeom prst="rect">
            <a:avLst/>
          </a:prstGeom>
        </p:spPr>
      </p:pic>
      <p:sp>
        <p:nvSpPr>
          <p:cNvPr id="11" name="TextBox 10">
            <a:extLst>
              <a:ext uri="{FF2B5EF4-FFF2-40B4-BE49-F238E27FC236}">
                <a16:creationId xmlns:a16="http://schemas.microsoft.com/office/drawing/2014/main" id="{2CF73B1B-5A17-443C-A29D-1B59245E9B02}"/>
              </a:ext>
            </a:extLst>
          </p:cNvPr>
          <p:cNvSpPr txBox="1"/>
          <p:nvPr/>
        </p:nvSpPr>
        <p:spPr>
          <a:xfrm>
            <a:off x="642257" y="1120299"/>
            <a:ext cx="10515600"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Which countries have the highest energy consumption relative to GDP?</a:t>
            </a:r>
          </a:p>
        </p:txBody>
      </p:sp>
      <p:pic>
        <p:nvPicPr>
          <p:cNvPr id="3074" name="Picture 2" descr="Climate Change on Energy Consumption ...">
            <a:extLst>
              <a:ext uri="{FF2B5EF4-FFF2-40B4-BE49-F238E27FC236}">
                <a16:creationId xmlns:a16="http://schemas.microsoft.com/office/drawing/2014/main" id="{4645B0E7-E369-41D9-9234-19AB1CD8D7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424" y="4367438"/>
            <a:ext cx="3134405"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88439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57D296-6370-4439-A12F-43B43961097C}"/>
              </a:ext>
            </a:extLst>
          </p:cNvPr>
          <p:cNvSpPr txBox="1"/>
          <p:nvPr/>
        </p:nvSpPr>
        <p:spPr>
          <a:xfrm>
            <a:off x="903785" y="789950"/>
            <a:ext cx="10009781"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average yearly change in emissions per capita for each country?</a:t>
            </a:r>
          </a:p>
        </p:txBody>
      </p:sp>
      <p:pic>
        <p:nvPicPr>
          <p:cNvPr id="7" name="Picture 6">
            <a:extLst>
              <a:ext uri="{FF2B5EF4-FFF2-40B4-BE49-F238E27FC236}">
                <a16:creationId xmlns:a16="http://schemas.microsoft.com/office/drawing/2014/main" id="{4B69CAA6-6626-4420-ADA5-79142E9978F8}"/>
              </a:ext>
            </a:extLst>
          </p:cNvPr>
          <p:cNvPicPr>
            <a:picLocks noChangeAspect="1"/>
          </p:cNvPicPr>
          <p:nvPr/>
        </p:nvPicPr>
        <p:blipFill>
          <a:blip r:embed="rId2"/>
          <a:stretch>
            <a:fillRect/>
          </a:stretch>
        </p:blipFill>
        <p:spPr>
          <a:xfrm>
            <a:off x="248211" y="1926815"/>
            <a:ext cx="7897327" cy="2391825"/>
          </a:xfrm>
          <a:prstGeom prst="rect">
            <a:avLst/>
          </a:prstGeom>
        </p:spPr>
      </p:pic>
      <p:pic>
        <p:nvPicPr>
          <p:cNvPr id="9" name="Picture 8">
            <a:extLst>
              <a:ext uri="{FF2B5EF4-FFF2-40B4-BE49-F238E27FC236}">
                <a16:creationId xmlns:a16="http://schemas.microsoft.com/office/drawing/2014/main" id="{B6EE6C13-CB21-48BE-863D-75D765B497E6}"/>
              </a:ext>
            </a:extLst>
          </p:cNvPr>
          <p:cNvPicPr>
            <a:picLocks noChangeAspect="1"/>
          </p:cNvPicPr>
          <p:nvPr/>
        </p:nvPicPr>
        <p:blipFill>
          <a:blip r:embed="rId3"/>
          <a:stretch>
            <a:fillRect/>
          </a:stretch>
        </p:blipFill>
        <p:spPr>
          <a:xfrm>
            <a:off x="8319709" y="1744057"/>
            <a:ext cx="3286584" cy="3801005"/>
          </a:xfrm>
          <a:prstGeom prst="rect">
            <a:avLst/>
          </a:prstGeom>
        </p:spPr>
      </p:pic>
      <p:pic>
        <p:nvPicPr>
          <p:cNvPr id="9218" name="Picture 2" descr="Energy consumption per capita ...">
            <a:extLst>
              <a:ext uri="{FF2B5EF4-FFF2-40B4-BE49-F238E27FC236}">
                <a16:creationId xmlns:a16="http://schemas.microsoft.com/office/drawing/2014/main" id="{5FFF7D4D-1E4D-42E1-9405-7939936B47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211" y="5022397"/>
            <a:ext cx="4869996"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5132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ppt_x"/>
                                          </p:val>
                                        </p:tav>
                                        <p:tav tm="100000">
                                          <p:val>
                                            <p:strVal val="#ppt_x"/>
                                          </p:val>
                                        </p:tav>
                                      </p:tavLst>
                                    </p:anim>
                                    <p:anim calcmode="lin" valueType="num">
                                      <p:cBhvr additive="base">
                                        <p:cTn id="8"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90B3A0-7AD8-45F9-AC5D-441CAEC5A0BC}"/>
              </a:ext>
            </a:extLst>
          </p:cNvPr>
          <p:cNvPicPr>
            <a:picLocks noChangeAspect="1"/>
          </p:cNvPicPr>
          <p:nvPr/>
        </p:nvPicPr>
        <p:blipFill>
          <a:blip r:embed="rId2"/>
          <a:stretch>
            <a:fillRect/>
          </a:stretch>
        </p:blipFill>
        <p:spPr>
          <a:xfrm>
            <a:off x="1236425" y="2214694"/>
            <a:ext cx="4681049" cy="1596178"/>
          </a:xfrm>
          <a:prstGeom prst="rect">
            <a:avLst/>
          </a:prstGeom>
        </p:spPr>
      </p:pic>
      <p:pic>
        <p:nvPicPr>
          <p:cNvPr id="6" name="Picture 5">
            <a:extLst>
              <a:ext uri="{FF2B5EF4-FFF2-40B4-BE49-F238E27FC236}">
                <a16:creationId xmlns:a16="http://schemas.microsoft.com/office/drawing/2014/main" id="{80789035-6D70-4BB3-8173-B9EF80835318}"/>
              </a:ext>
            </a:extLst>
          </p:cNvPr>
          <p:cNvPicPr>
            <a:picLocks noChangeAspect="1"/>
          </p:cNvPicPr>
          <p:nvPr/>
        </p:nvPicPr>
        <p:blipFill>
          <a:blip r:embed="rId3"/>
          <a:stretch>
            <a:fillRect/>
          </a:stretch>
        </p:blipFill>
        <p:spPr>
          <a:xfrm>
            <a:off x="7408798" y="2214693"/>
            <a:ext cx="2178333" cy="2428613"/>
          </a:xfrm>
          <a:prstGeom prst="rect">
            <a:avLst/>
          </a:prstGeom>
        </p:spPr>
      </p:pic>
      <p:sp>
        <p:nvSpPr>
          <p:cNvPr id="7" name="TextBox 6">
            <a:extLst>
              <a:ext uri="{FF2B5EF4-FFF2-40B4-BE49-F238E27FC236}">
                <a16:creationId xmlns:a16="http://schemas.microsoft.com/office/drawing/2014/main" id="{DE4CF8F1-CB74-410F-BC5E-23E7CD78E9A8}"/>
              </a:ext>
            </a:extLst>
          </p:cNvPr>
          <p:cNvSpPr txBox="1"/>
          <p:nvPr/>
        </p:nvSpPr>
        <p:spPr>
          <a:xfrm>
            <a:off x="1236426" y="1118774"/>
            <a:ext cx="9623832"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What are the top 5 countries by GDP in the most recent year?</a:t>
            </a:r>
          </a:p>
        </p:txBody>
      </p:sp>
      <p:pic>
        <p:nvPicPr>
          <p:cNvPr id="5122" name="Picture 2" descr="How to Measure and Reduce Data Center Energy Consumption | Sunbird DCIM">
            <a:extLst>
              <a:ext uri="{FF2B5EF4-FFF2-40B4-BE49-F238E27FC236}">
                <a16:creationId xmlns:a16="http://schemas.microsoft.com/office/drawing/2014/main" id="{84F11504-6A33-45D7-A60B-3F6CA07AC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934857"/>
            <a:ext cx="12192000" cy="1923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68110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3930-6CA0-4491-AFD9-87F6C8FE4B96}"/>
              </a:ext>
            </a:extLst>
          </p:cNvPr>
          <p:cNvSpPr>
            <a:spLocks noGrp="1"/>
          </p:cNvSpPr>
          <p:nvPr>
            <p:ph type="title"/>
          </p:nvPr>
        </p:nvSpPr>
        <p:spPr>
          <a:xfrm>
            <a:off x="913775" y="618517"/>
            <a:ext cx="10364451" cy="569847"/>
          </a:xfrm>
        </p:spPr>
        <p:txBody>
          <a:bodyPr>
            <a:normAutofit/>
          </a:bodyPr>
          <a:lstStyle/>
          <a:p>
            <a:r>
              <a:rPr lang="en-US" sz="3200" dirty="0">
                <a:latin typeface="Algerian" panose="04020705040A02060702" pitchFamily="82" charset="0"/>
              </a:rPr>
              <a:t>Correlation &amp; Cause"</a:t>
            </a:r>
          </a:p>
        </p:txBody>
      </p:sp>
      <p:sp>
        <p:nvSpPr>
          <p:cNvPr id="4" name="TextBox 3">
            <a:extLst>
              <a:ext uri="{FF2B5EF4-FFF2-40B4-BE49-F238E27FC236}">
                <a16:creationId xmlns:a16="http://schemas.microsoft.com/office/drawing/2014/main" id="{2FF57C97-405C-46B8-9EA3-60D0CBC60AD1}"/>
              </a:ext>
            </a:extLst>
          </p:cNvPr>
          <p:cNvSpPr txBox="1"/>
          <p:nvPr/>
        </p:nvSpPr>
        <p:spPr>
          <a:xfrm>
            <a:off x="627017" y="1690688"/>
            <a:ext cx="11730446"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How has population growth affected total emissions in each country?</a:t>
            </a:r>
          </a:p>
        </p:txBody>
      </p:sp>
      <p:pic>
        <p:nvPicPr>
          <p:cNvPr id="8" name="Picture 7">
            <a:extLst>
              <a:ext uri="{FF2B5EF4-FFF2-40B4-BE49-F238E27FC236}">
                <a16:creationId xmlns:a16="http://schemas.microsoft.com/office/drawing/2014/main" id="{CEFECC90-33C7-4E4C-9AD7-E2FD03DCF939}"/>
              </a:ext>
            </a:extLst>
          </p:cNvPr>
          <p:cNvPicPr>
            <a:picLocks noChangeAspect="1"/>
          </p:cNvPicPr>
          <p:nvPr/>
        </p:nvPicPr>
        <p:blipFill>
          <a:blip r:embed="rId2"/>
          <a:stretch>
            <a:fillRect/>
          </a:stretch>
        </p:blipFill>
        <p:spPr>
          <a:xfrm>
            <a:off x="8487011" y="2213908"/>
            <a:ext cx="2791215" cy="3867690"/>
          </a:xfrm>
          <a:prstGeom prst="rect">
            <a:avLst/>
          </a:prstGeom>
        </p:spPr>
      </p:pic>
      <p:pic>
        <p:nvPicPr>
          <p:cNvPr id="10" name="Picture 9">
            <a:extLst>
              <a:ext uri="{FF2B5EF4-FFF2-40B4-BE49-F238E27FC236}">
                <a16:creationId xmlns:a16="http://schemas.microsoft.com/office/drawing/2014/main" id="{9A0AC98C-93B6-499B-96BC-3BB0CF9F6E83}"/>
              </a:ext>
            </a:extLst>
          </p:cNvPr>
          <p:cNvPicPr>
            <a:picLocks noChangeAspect="1"/>
          </p:cNvPicPr>
          <p:nvPr/>
        </p:nvPicPr>
        <p:blipFill>
          <a:blip r:embed="rId3"/>
          <a:stretch>
            <a:fillRect/>
          </a:stretch>
        </p:blipFill>
        <p:spPr>
          <a:xfrm>
            <a:off x="1112791" y="2456702"/>
            <a:ext cx="4458322" cy="1431807"/>
          </a:xfrm>
          <a:prstGeom prst="rect">
            <a:avLst/>
          </a:prstGeom>
        </p:spPr>
      </p:pic>
      <p:pic>
        <p:nvPicPr>
          <p:cNvPr id="6146" name="Picture 2" descr="Explain Scientific Solutions To Help Industries Reduce Their Energy  Consumption">
            <a:extLst>
              <a:ext uri="{FF2B5EF4-FFF2-40B4-BE49-F238E27FC236}">
                <a16:creationId xmlns:a16="http://schemas.microsoft.com/office/drawing/2014/main" id="{C6FE4F3F-C8F2-4D5E-B3A3-BFFF74BFBA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771" y="4644093"/>
            <a:ext cx="5675086" cy="208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72704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27256F-136C-4803-96A1-E33ECA3BA151}"/>
              </a:ext>
            </a:extLst>
          </p:cNvPr>
          <p:cNvSpPr txBox="1"/>
          <p:nvPr/>
        </p:nvSpPr>
        <p:spPr>
          <a:xfrm>
            <a:off x="799284" y="894453"/>
            <a:ext cx="11061790"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correlation between GDP growth and energy production growth?</a:t>
            </a:r>
          </a:p>
        </p:txBody>
      </p:sp>
      <p:pic>
        <p:nvPicPr>
          <p:cNvPr id="5" name="Picture 4">
            <a:extLst>
              <a:ext uri="{FF2B5EF4-FFF2-40B4-BE49-F238E27FC236}">
                <a16:creationId xmlns:a16="http://schemas.microsoft.com/office/drawing/2014/main" id="{C99BAB6E-7DC5-4E7C-BB67-7FFAA75E198C}"/>
              </a:ext>
            </a:extLst>
          </p:cNvPr>
          <p:cNvPicPr>
            <a:picLocks noChangeAspect="1"/>
          </p:cNvPicPr>
          <p:nvPr/>
        </p:nvPicPr>
        <p:blipFill>
          <a:blip r:embed="rId2"/>
          <a:stretch>
            <a:fillRect/>
          </a:stretch>
        </p:blipFill>
        <p:spPr>
          <a:xfrm>
            <a:off x="799283" y="1900248"/>
            <a:ext cx="6058717" cy="1637279"/>
          </a:xfrm>
          <a:prstGeom prst="rect">
            <a:avLst/>
          </a:prstGeom>
        </p:spPr>
      </p:pic>
      <p:pic>
        <p:nvPicPr>
          <p:cNvPr id="7" name="Picture 6">
            <a:extLst>
              <a:ext uri="{FF2B5EF4-FFF2-40B4-BE49-F238E27FC236}">
                <a16:creationId xmlns:a16="http://schemas.microsoft.com/office/drawing/2014/main" id="{3FAB9F76-9246-42AC-950E-DD3F2D33F531}"/>
              </a:ext>
            </a:extLst>
          </p:cNvPr>
          <p:cNvPicPr>
            <a:picLocks noChangeAspect="1"/>
          </p:cNvPicPr>
          <p:nvPr/>
        </p:nvPicPr>
        <p:blipFill>
          <a:blip r:embed="rId3"/>
          <a:stretch>
            <a:fillRect/>
          </a:stretch>
        </p:blipFill>
        <p:spPr>
          <a:xfrm>
            <a:off x="7891110" y="1900248"/>
            <a:ext cx="2657846" cy="3762900"/>
          </a:xfrm>
          <a:prstGeom prst="rect">
            <a:avLst/>
          </a:prstGeom>
        </p:spPr>
      </p:pic>
    </p:spTree>
    <p:extLst>
      <p:ext uri="{BB962C8B-B14F-4D97-AF65-F5344CB8AC3E}">
        <p14:creationId xmlns:p14="http://schemas.microsoft.com/office/powerpoint/2010/main" val="417113086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6D9937-269F-4833-8E8D-5D57FECD1478}"/>
              </a:ext>
            </a:extLst>
          </p:cNvPr>
          <p:cNvSpPr txBox="1"/>
          <p:nvPr/>
        </p:nvSpPr>
        <p:spPr>
          <a:xfrm>
            <a:off x="860719" y="1046098"/>
            <a:ext cx="1014739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Which energy types contribute most to emissions across all countries?</a:t>
            </a:r>
          </a:p>
        </p:txBody>
      </p:sp>
      <p:pic>
        <p:nvPicPr>
          <p:cNvPr id="5" name="Picture 4">
            <a:extLst>
              <a:ext uri="{FF2B5EF4-FFF2-40B4-BE49-F238E27FC236}">
                <a16:creationId xmlns:a16="http://schemas.microsoft.com/office/drawing/2014/main" id="{11F6E023-010E-4216-B14D-6DBAC8FF04AD}"/>
              </a:ext>
            </a:extLst>
          </p:cNvPr>
          <p:cNvPicPr>
            <a:picLocks noChangeAspect="1"/>
          </p:cNvPicPr>
          <p:nvPr/>
        </p:nvPicPr>
        <p:blipFill>
          <a:blip r:embed="rId2"/>
          <a:stretch>
            <a:fillRect/>
          </a:stretch>
        </p:blipFill>
        <p:spPr>
          <a:xfrm>
            <a:off x="860719" y="1853999"/>
            <a:ext cx="4400181" cy="2040641"/>
          </a:xfrm>
          <a:prstGeom prst="rect">
            <a:avLst/>
          </a:prstGeom>
        </p:spPr>
      </p:pic>
      <p:pic>
        <p:nvPicPr>
          <p:cNvPr id="7" name="Picture 6">
            <a:extLst>
              <a:ext uri="{FF2B5EF4-FFF2-40B4-BE49-F238E27FC236}">
                <a16:creationId xmlns:a16="http://schemas.microsoft.com/office/drawing/2014/main" id="{31FED742-196B-48CA-804B-BA167CF4B48F}"/>
              </a:ext>
            </a:extLst>
          </p:cNvPr>
          <p:cNvPicPr>
            <a:picLocks noChangeAspect="1"/>
          </p:cNvPicPr>
          <p:nvPr/>
        </p:nvPicPr>
        <p:blipFill>
          <a:blip r:embed="rId3"/>
          <a:stretch>
            <a:fillRect/>
          </a:stretch>
        </p:blipFill>
        <p:spPr>
          <a:xfrm>
            <a:off x="6361611" y="2740363"/>
            <a:ext cx="3862701" cy="2040641"/>
          </a:xfrm>
          <a:prstGeom prst="rect">
            <a:avLst/>
          </a:prstGeom>
        </p:spPr>
      </p:pic>
      <p:pic>
        <p:nvPicPr>
          <p:cNvPr id="7170" name="Picture 2" descr="shows the development of energy consumption by sector for a group of... |  Download Scientific Diagram">
            <a:extLst>
              <a:ext uri="{FF2B5EF4-FFF2-40B4-BE49-F238E27FC236}">
                <a16:creationId xmlns:a16="http://schemas.microsoft.com/office/drawing/2014/main" id="{8E24CBC3-06DD-43C4-AB1F-38536A0F4E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719" y="4179321"/>
            <a:ext cx="4400181" cy="1836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0013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8CA50F-C576-4BC1-BFF3-E6D12330C160}"/>
              </a:ext>
            </a:extLst>
          </p:cNvPr>
          <p:cNvSpPr txBox="1"/>
          <p:nvPr/>
        </p:nvSpPr>
        <p:spPr>
          <a:xfrm>
            <a:off x="1064543" y="1060956"/>
            <a:ext cx="10055950"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are the top 10 countries by population and how do their emissions compare?</a:t>
            </a:r>
          </a:p>
        </p:txBody>
      </p:sp>
      <p:pic>
        <p:nvPicPr>
          <p:cNvPr id="5" name="Picture 4">
            <a:extLst>
              <a:ext uri="{FF2B5EF4-FFF2-40B4-BE49-F238E27FC236}">
                <a16:creationId xmlns:a16="http://schemas.microsoft.com/office/drawing/2014/main" id="{9AB90F98-D5A9-4825-98C9-BC2160BC718B}"/>
              </a:ext>
            </a:extLst>
          </p:cNvPr>
          <p:cNvPicPr>
            <a:picLocks noChangeAspect="1"/>
          </p:cNvPicPr>
          <p:nvPr/>
        </p:nvPicPr>
        <p:blipFill>
          <a:blip r:embed="rId2"/>
          <a:stretch>
            <a:fillRect/>
          </a:stretch>
        </p:blipFill>
        <p:spPr>
          <a:xfrm>
            <a:off x="1064544" y="2174084"/>
            <a:ext cx="5181611" cy="1825262"/>
          </a:xfrm>
          <a:prstGeom prst="rect">
            <a:avLst/>
          </a:prstGeom>
        </p:spPr>
      </p:pic>
      <p:pic>
        <p:nvPicPr>
          <p:cNvPr id="7" name="Picture 6">
            <a:extLst>
              <a:ext uri="{FF2B5EF4-FFF2-40B4-BE49-F238E27FC236}">
                <a16:creationId xmlns:a16="http://schemas.microsoft.com/office/drawing/2014/main" id="{913B8995-B74D-42A4-9CAA-95A644675602}"/>
              </a:ext>
            </a:extLst>
          </p:cNvPr>
          <p:cNvPicPr>
            <a:picLocks noChangeAspect="1"/>
          </p:cNvPicPr>
          <p:nvPr/>
        </p:nvPicPr>
        <p:blipFill>
          <a:blip r:embed="rId3"/>
          <a:stretch>
            <a:fillRect/>
          </a:stretch>
        </p:blipFill>
        <p:spPr>
          <a:xfrm>
            <a:off x="7093131" y="2873828"/>
            <a:ext cx="3435531" cy="2764195"/>
          </a:xfrm>
          <a:prstGeom prst="rect">
            <a:avLst/>
          </a:prstGeom>
        </p:spPr>
      </p:pic>
      <p:pic>
        <p:nvPicPr>
          <p:cNvPr id="8194" name="Picture 2" descr="The Connections Between Population and Climate Change">
            <a:extLst>
              <a:ext uri="{FF2B5EF4-FFF2-40B4-BE49-F238E27FC236}">
                <a16:creationId xmlns:a16="http://schemas.microsoft.com/office/drawing/2014/main" id="{97133373-CC70-4B49-BA2D-6DE0D36D1B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543" y="4137891"/>
            <a:ext cx="5181611" cy="2429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3714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4C9A-7ABA-4891-8864-3EB0C263E977}"/>
              </a:ext>
            </a:extLst>
          </p:cNvPr>
          <p:cNvSpPr>
            <a:spLocks noGrp="1"/>
          </p:cNvSpPr>
          <p:nvPr>
            <p:ph type="title"/>
          </p:nvPr>
        </p:nvSpPr>
        <p:spPr>
          <a:xfrm>
            <a:off x="913775" y="618518"/>
            <a:ext cx="10364451" cy="700832"/>
          </a:xfrm>
        </p:spPr>
        <p:txBody>
          <a:bodyPr/>
          <a:lstStyle/>
          <a:p>
            <a:r>
              <a:rPr lang="en-US" dirty="0"/>
              <a:t>Trend &amp; Forecast</a:t>
            </a:r>
          </a:p>
        </p:txBody>
      </p:sp>
      <p:sp>
        <p:nvSpPr>
          <p:cNvPr id="6" name="TextBox 5">
            <a:extLst>
              <a:ext uri="{FF2B5EF4-FFF2-40B4-BE49-F238E27FC236}">
                <a16:creationId xmlns:a16="http://schemas.microsoft.com/office/drawing/2014/main" id="{905BFF9E-BEEB-4227-8854-D53187C944AC}"/>
              </a:ext>
            </a:extLst>
          </p:cNvPr>
          <p:cNvSpPr txBox="1"/>
          <p:nvPr/>
        </p:nvSpPr>
        <p:spPr>
          <a:xfrm>
            <a:off x="929911" y="1536799"/>
            <a:ext cx="8018145"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How have global emissions changed year over year?</a:t>
            </a:r>
          </a:p>
        </p:txBody>
      </p:sp>
      <p:pic>
        <p:nvPicPr>
          <p:cNvPr id="8" name="Picture 7">
            <a:extLst>
              <a:ext uri="{FF2B5EF4-FFF2-40B4-BE49-F238E27FC236}">
                <a16:creationId xmlns:a16="http://schemas.microsoft.com/office/drawing/2014/main" id="{FA952E8F-653D-408F-A24F-B5651CC9454F}"/>
              </a:ext>
            </a:extLst>
          </p:cNvPr>
          <p:cNvPicPr>
            <a:picLocks noChangeAspect="1"/>
          </p:cNvPicPr>
          <p:nvPr/>
        </p:nvPicPr>
        <p:blipFill>
          <a:blip r:embed="rId2"/>
          <a:stretch>
            <a:fillRect/>
          </a:stretch>
        </p:blipFill>
        <p:spPr>
          <a:xfrm>
            <a:off x="929911" y="2466923"/>
            <a:ext cx="3449219" cy="1924153"/>
          </a:xfrm>
          <a:prstGeom prst="rect">
            <a:avLst/>
          </a:prstGeom>
        </p:spPr>
      </p:pic>
      <p:pic>
        <p:nvPicPr>
          <p:cNvPr id="10" name="Picture 9">
            <a:extLst>
              <a:ext uri="{FF2B5EF4-FFF2-40B4-BE49-F238E27FC236}">
                <a16:creationId xmlns:a16="http://schemas.microsoft.com/office/drawing/2014/main" id="{6E36AC4D-473A-4604-810D-F261173D48B1}"/>
              </a:ext>
            </a:extLst>
          </p:cNvPr>
          <p:cNvPicPr>
            <a:picLocks noChangeAspect="1"/>
          </p:cNvPicPr>
          <p:nvPr/>
        </p:nvPicPr>
        <p:blipFill>
          <a:blip r:embed="rId3"/>
          <a:stretch>
            <a:fillRect/>
          </a:stretch>
        </p:blipFill>
        <p:spPr>
          <a:xfrm>
            <a:off x="5273922" y="2277468"/>
            <a:ext cx="2422344" cy="2723987"/>
          </a:xfrm>
          <a:prstGeom prst="rect">
            <a:avLst/>
          </a:prstGeom>
        </p:spPr>
      </p:pic>
      <p:pic>
        <p:nvPicPr>
          <p:cNvPr id="1026" name="Picture 2" descr="What Should Determine What I Put in a Data Analytics Report or Dashboard?">
            <a:extLst>
              <a:ext uri="{FF2B5EF4-FFF2-40B4-BE49-F238E27FC236}">
                <a16:creationId xmlns:a16="http://schemas.microsoft.com/office/drawing/2014/main" id="{5F5E19CC-A47C-41E0-B6E2-7C7FAEC8E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7424" y="4586069"/>
            <a:ext cx="3243590" cy="2158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29105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81A612-7163-4F07-9F7F-CC09A00CD696}"/>
              </a:ext>
            </a:extLst>
          </p:cNvPr>
          <p:cNvSpPr txBox="1"/>
          <p:nvPr/>
        </p:nvSpPr>
        <p:spPr>
          <a:xfrm>
            <a:off x="1204233" y="869630"/>
            <a:ext cx="10330270" cy="830997"/>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Has energy consumption increased or decreased over the years for major economies?</a:t>
            </a:r>
          </a:p>
        </p:txBody>
      </p:sp>
      <p:pic>
        <p:nvPicPr>
          <p:cNvPr id="9" name="Picture 8">
            <a:extLst>
              <a:ext uri="{FF2B5EF4-FFF2-40B4-BE49-F238E27FC236}">
                <a16:creationId xmlns:a16="http://schemas.microsoft.com/office/drawing/2014/main" id="{E8F1DB5E-E325-4A43-AA79-36AADFAC1A04}"/>
              </a:ext>
            </a:extLst>
          </p:cNvPr>
          <p:cNvPicPr>
            <a:picLocks noChangeAspect="1"/>
          </p:cNvPicPr>
          <p:nvPr/>
        </p:nvPicPr>
        <p:blipFill>
          <a:blip r:embed="rId2"/>
          <a:stretch>
            <a:fillRect/>
          </a:stretch>
        </p:blipFill>
        <p:spPr>
          <a:xfrm>
            <a:off x="1291318" y="1908330"/>
            <a:ext cx="4877481" cy="1786215"/>
          </a:xfrm>
          <a:prstGeom prst="rect">
            <a:avLst/>
          </a:prstGeom>
        </p:spPr>
      </p:pic>
      <p:pic>
        <p:nvPicPr>
          <p:cNvPr id="11" name="Picture 10">
            <a:extLst>
              <a:ext uri="{FF2B5EF4-FFF2-40B4-BE49-F238E27FC236}">
                <a16:creationId xmlns:a16="http://schemas.microsoft.com/office/drawing/2014/main" id="{27452341-3B89-42F5-889C-D4A07D38508A}"/>
              </a:ext>
            </a:extLst>
          </p:cNvPr>
          <p:cNvPicPr>
            <a:picLocks noChangeAspect="1"/>
          </p:cNvPicPr>
          <p:nvPr/>
        </p:nvPicPr>
        <p:blipFill>
          <a:blip r:embed="rId3"/>
          <a:stretch>
            <a:fillRect/>
          </a:stretch>
        </p:blipFill>
        <p:spPr>
          <a:xfrm>
            <a:off x="7612517" y="2181498"/>
            <a:ext cx="2286319" cy="3391373"/>
          </a:xfrm>
          <a:prstGeom prst="rect">
            <a:avLst/>
          </a:prstGeom>
        </p:spPr>
      </p:pic>
      <p:pic>
        <p:nvPicPr>
          <p:cNvPr id="10242" name="Picture 2" descr="World Energy Consumption Since 1820 in Charts | Our Finite World">
            <a:extLst>
              <a:ext uri="{FF2B5EF4-FFF2-40B4-BE49-F238E27FC236}">
                <a16:creationId xmlns:a16="http://schemas.microsoft.com/office/drawing/2014/main" id="{897C9DCD-B6A7-4060-A3A2-3E1FC4D012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233" y="3851565"/>
            <a:ext cx="4964566" cy="2244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46615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3B0AF1-5B4E-41EC-B110-C07A0FB176E9}"/>
              </a:ext>
            </a:extLst>
          </p:cNvPr>
          <p:cNvSpPr txBox="1"/>
          <p:nvPr/>
        </p:nvSpPr>
        <p:spPr>
          <a:xfrm>
            <a:off x="1129120" y="1119741"/>
            <a:ext cx="8681085"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What is the trend in GDP for each country over the given years?</a:t>
            </a:r>
          </a:p>
        </p:txBody>
      </p:sp>
      <p:pic>
        <p:nvPicPr>
          <p:cNvPr id="5" name="Picture 4">
            <a:extLst>
              <a:ext uri="{FF2B5EF4-FFF2-40B4-BE49-F238E27FC236}">
                <a16:creationId xmlns:a16="http://schemas.microsoft.com/office/drawing/2014/main" id="{A6CB6450-C945-487D-80A8-983089CDDD2A}"/>
              </a:ext>
            </a:extLst>
          </p:cNvPr>
          <p:cNvPicPr>
            <a:picLocks noChangeAspect="1"/>
          </p:cNvPicPr>
          <p:nvPr/>
        </p:nvPicPr>
        <p:blipFill>
          <a:blip r:embed="rId2"/>
          <a:stretch>
            <a:fillRect/>
          </a:stretch>
        </p:blipFill>
        <p:spPr>
          <a:xfrm>
            <a:off x="1742244" y="2928510"/>
            <a:ext cx="3294213" cy="1944518"/>
          </a:xfrm>
          <a:prstGeom prst="rect">
            <a:avLst/>
          </a:prstGeom>
        </p:spPr>
      </p:pic>
      <p:pic>
        <p:nvPicPr>
          <p:cNvPr id="7" name="Picture 6">
            <a:extLst>
              <a:ext uri="{FF2B5EF4-FFF2-40B4-BE49-F238E27FC236}">
                <a16:creationId xmlns:a16="http://schemas.microsoft.com/office/drawing/2014/main" id="{BD7F5C0E-CD0F-4BA5-9E7B-60338A4C4D21}"/>
              </a:ext>
            </a:extLst>
          </p:cNvPr>
          <p:cNvPicPr>
            <a:picLocks noChangeAspect="1"/>
          </p:cNvPicPr>
          <p:nvPr/>
        </p:nvPicPr>
        <p:blipFill>
          <a:blip r:embed="rId3"/>
          <a:stretch>
            <a:fillRect/>
          </a:stretch>
        </p:blipFill>
        <p:spPr>
          <a:xfrm>
            <a:off x="6656341" y="1879314"/>
            <a:ext cx="3598001" cy="3607086"/>
          </a:xfrm>
          <a:prstGeom prst="rect">
            <a:avLst/>
          </a:prstGeom>
        </p:spPr>
      </p:pic>
    </p:spTree>
    <p:extLst>
      <p:ext uri="{BB962C8B-B14F-4D97-AF65-F5344CB8AC3E}">
        <p14:creationId xmlns:p14="http://schemas.microsoft.com/office/powerpoint/2010/main" val="309346386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AD7E29-EE40-4392-BE6F-111B194DB963}"/>
              </a:ext>
            </a:extLst>
          </p:cNvPr>
          <p:cNvSpPr txBox="1"/>
          <p:nvPr/>
        </p:nvSpPr>
        <p:spPr>
          <a:xfrm>
            <a:off x="1111787" y="718618"/>
            <a:ext cx="9165053"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energy consumption per capita for each country over the last decade?</a:t>
            </a:r>
          </a:p>
        </p:txBody>
      </p:sp>
      <p:pic>
        <p:nvPicPr>
          <p:cNvPr id="5" name="Picture 4">
            <a:extLst>
              <a:ext uri="{FF2B5EF4-FFF2-40B4-BE49-F238E27FC236}">
                <a16:creationId xmlns:a16="http://schemas.microsoft.com/office/drawing/2014/main" id="{0168670D-3DCA-43EE-B9E2-25EEE09EA95B}"/>
              </a:ext>
            </a:extLst>
          </p:cNvPr>
          <p:cNvPicPr>
            <a:picLocks noChangeAspect="1"/>
          </p:cNvPicPr>
          <p:nvPr/>
        </p:nvPicPr>
        <p:blipFill>
          <a:blip r:embed="rId2"/>
          <a:stretch>
            <a:fillRect/>
          </a:stretch>
        </p:blipFill>
        <p:spPr>
          <a:xfrm>
            <a:off x="1257407" y="2890676"/>
            <a:ext cx="5630061" cy="1628190"/>
          </a:xfrm>
          <a:prstGeom prst="rect">
            <a:avLst/>
          </a:prstGeom>
        </p:spPr>
      </p:pic>
      <p:pic>
        <p:nvPicPr>
          <p:cNvPr id="7" name="Picture 6">
            <a:extLst>
              <a:ext uri="{FF2B5EF4-FFF2-40B4-BE49-F238E27FC236}">
                <a16:creationId xmlns:a16="http://schemas.microsoft.com/office/drawing/2014/main" id="{DDA455FB-B526-48A4-AAB0-B5C55A5CA1CC}"/>
              </a:ext>
            </a:extLst>
          </p:cNvPr>
          <p:cNvPicPr>
            <a:picLocks noChangeAspect="1"/>
          </p:cNvPicPr>
          <p:nvPr/>
        </p:nvPicPr>
        <p:blipFill>
          <a:blip r:embed="rId3"/>
          <a:stretch>
            <a:fillRect/>
          </a:stretch>
        </p:blipFill>
        <p:spPr>
          <a:xfrm>
            <a:off x="7815942" y="2190393"/>
            <a:ext cx="2657846" cy="3448531"/>
          </a:xfrm>
          <a:prstGeom prst="rect">
            <a:avLst/>
          </a:prstGeom>
        </p:spPr>
      </p:pic>
    </p:spTree>
    <p:extLst>
      <p:ext uri="{BB962C8B-B14F-4D97-AF65-F5344CB8AC3E}">
        <p14:creationId xmlns:p14="http://schemas.microsoft.com/office/powerpoint/2010/main" val="173872780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73B8E-D735-471D-BDD0-428D5EB0E1BA}"/>
              </a:ext>
            </a:extLst>
          </p:cNvPr>
          <p:cNvSpPr>
            <a:spLocks noGrp="1"/>
          </p:cNvSpPr>
          <p:nvPr>
            <p:ph type="title" idx="4294967295"/>
          </p:nvPr>
        </p:nvSpPr>
        <p:spPr>
          <a:xfrm>
            <a:off x="681716" y="365125"/>
            <a:ext cx="9833883" cy="1325563"/>
          </a:xfrm>
        </p:spPr>
        <p:txBody>
          <a:bodyPr>
            <a:normAutofit/>
          </a:bodyPr>
          <a:lstStyle/>
          <a:p>
            <a:r>
              <a:rPr lang="en-US" sz="3200" dirty="0">
                <a:latin typeface="Algerian" panose="04020705040A02060702" pitchFamily="82" charset="0"/>
              </a:rPr>
              <a:t>Global Context</a:t>
            </a:r>
          </a:p>
        </p:txBody>
      </p:sp>
      <p:sp>
        <p:nvSpPr>
          <p:cNvPr id="4" name="TextBox 3">
            <a:extLst>
              <a:ext uri="{FF2B5EF4-FFF2-40B4-BE49-F238E27FC236}">
                <a16:creationId xmlns:a16="http://schemas.microsoft.com/office/drawing/2014/main" id="{7EF052CD-A2C8-40C3-BDFE-918EDCAE94E8}"/>
              </a:ext>
            </a:extLst>
          </p:cNvPr>
          <p:cNvSpPr txBox="1"/>
          <p:nvPr/>
        </p:nvSpPr>
        <p:spPr>
          <a:xfrm>
            <a:off x="1821200" y="1505848"/>
            <a:ext cx="7900579"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global share (%) of emissions by country?</a:t>
            </a:r>
          </a:p>
        </p:txBody>
      </p:sp>
      <p:pic>
        <p:nvPicPr>
          <p:cNvPr id="6" name="Picture 5">
            <a:extLst>
              <a:ext uri="{FF2B5EF4-FFF2-40B4-BE49-F238E27FC236}">
                <a16:creationId xmlns:a16="http://schemas.microsoft.com/office/drawing/2014/main" id="{94DD9925-6425-4EEF-A89F-38AAAB69299E}"/>
              </a:ext>
            </a:extLst>
          </p:cNvPr>
          <p:cNvPicPr>
            <a:picLocks noChangeAspect="1"/>
          </p:cNvPicPr>
          <p:nvPr/>
        </p:nvPicPr>
        <p:blipFill>
          <a:blip r:embed="rId2"/>
          <a:stretch>
            <a:fillRect/>
          </a:stretch>
        </p:blipFill>
        <p:spPr>
          <a:xfrm>
            <a:off x="8806239" y="2213908"/>
            <a:ext cx="3172268" cy="3477110"/>
          </a:xfrm>
          <a:prstGeom prst="rect">
            <a:avLst/>
          </a:prstGeom>
        </p:spPr>
      </p:pic>
      <p:pic>
        <p:nvPicPr>
          <p:cNvPr id="8" name="Picture 7">
            <a:extLst>
              <a:ext uri="{FF2B5EF4-FFF2-40B4-BE49-F238E27FC236}">
                <a16:creationId xmlns:a16="http://schemas.microsoft.com/office/drawing/2014/main" id="{E670AB27-6714-4F0D-A061-D95626DAAE78}"/>
              </a:ext>
            </a:extLst>
          </p:cNvPr>
          <p:cNvPicPr>
            <a:picLocks noChangeAspect="1"/>
          </p:cNvPicPr>
          <p:nvPr/>
        </p:nvPicPr>
        <p:blipFill>
          <a:blip r:embed="rId3"/>
          <a:stretch>
            <a:fillRect/>
          </a:stretch>
        </p:blipFill>
        <p:spPr>
          <a:xfrm>
            <a:off x="751846" y="2391771"/>
            <a:ext cx="7760320" cy="2074458"/>
          </a:xfrm>
          <a:prstGeom prst="rect">
            <a:avLst/>
          </a:prstGeom>
        </p:spPr>
      </p:pic>
    </p:spTree>
    <p:extLst>
      <p:ext uri="{BB962C8B-B14F-4D97-AF65-F5344CB8AC3E}">
        <p14:creationId xmlns:p14="http://schemas.microsoft.com/office/powerpoint/2010/main" val="2433770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A4E95A-9F2A-4327-A3D7-FA2EF9B9CA2F}"/>
              </a:ext>
            </a:extLst>
          </p:cNvPr>
          <p:cNvSpPr txBox="1"/>
          <p:nvPr/>
        </p:nvSpPr>
        <p:spPr>
          <a:xfrm>
            <a:off x="1232623" y="870897"/>
            <a:ext cx="9624877"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total emission per country for the most recent year available?</a:t>
            </a:r>
          </a:p>
        </p:txBody>
      </p:sp>
      <p:pic>
        <p:nvPicPr>
          <p:cNvPr id="5" name="Picture 4">
            <a:extLst>
              <a:ext uri="{FF2B5EF4-FFF2-40B4-BE49-F238E27FC236}">
                <a16:creationId xmlns:a16="http://schemas.microsoft.com/office/drawing/2014/main" id="{7F54BBBA-F713-4BF8-B451-ACF606DA80EE}"/>
              </a:ext>
            </a:extLst>
          </p:cNvPr>
          <p:cNvPicPr>
            <a:picLocks noChangeAspect="1"/>
          </p:cNvPicPr>
          <p:nvPr/>
        </p:nvPicPr>
        <p:blipFill>
          <a:blip r:embed="rId2"/>
          <a:stretch>
            <a:fillRect/>
          </a:stretch>
        </p:blipFill>
        <p:spPr>
          <a:xfrm>
            <a:off x="1305503" y="1945195"/>
            <a:ext cx="3753374" cy="1804650"/>
          </a:xfrm>
          <a:prstGeom prst="rect">
            <a:avLst/>
          </a:prstGeom>
        </p:spPr>
      </p:pic>
      <p:pic>
        <p:nvPicPr>
          <p:cNvPr id="7" name="Picture 6">
            <a:extLst>
              <a:ext uri="{FF2B5EF4-FFF2-40B4-BE49-F238E27FC236}">
                <a16:creationId xmlns:a16="http://schemas.microsoft.com/office/drawing/2014/main" id="{61994DBA-A6D9-4658-9F88-FF5D1C5E6690}"/>
              </a:ext>
            </a:extLst>
          </p:cNvPr>
          <p:cNvPicPr>
            <a:picLocks noChangeAspect="1"/>
          </p:cNvPicPr>
          <p:nvPr/>
        </p:nvPicPr>
        <p:blipFill>
          <a:blip r:embed="rId3"/>
          <a:stretch>
            <a:fillRect/>
          </a:stretch>
        </p:blipFill>
        <p:spPr>
          <a:xfrm>
            <a:off x="7769654" y="2218328"/>
            <a:ext cx="2295845" cy="3648584"/>
          </a:xfrm>
          <a:prstGeom prst="rect">
            <a:avLst/>
          </a:prstGeom>
        </p:spPr>
      </p:pic>
      <p:pic>
        <p:nvPicPr>
          <p:cNvPr id="7170" name="Picture 2" descr="Wasteful energy consumption RGB color ...">
            <a:extLst>
              <a:ext uri="{FF2B5EF4-FFF2-40B4-BE49-F238E27FC236}">
                <a16:creationId xmlns:a16="http://schemas.microsoft.com/office/drawing/2014/main" id="{3C2E48FB-9DA3-4D6B-AFE2-FC88958336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638675"/>
            <a:ext cx="3468914"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01102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83A18-DB39-4C7C-84BA-50D8415C8441}"/>
              </a:ext>
            </a:extLst>
          </p:cNvPr>
          <p:cNvPicPr>
            <a:picLocks noChangeAspect="1"/>
          </p:cNvPicPr>
          <p:nvPr/>
        </p:nvPicPr>
        <p:blipFill>
          <a:blip r:embed="rId2"/>
          <a:stretch>
            <a:fillRect/>
          </a:stretch>
        </p:blipFill>
        <p:spPr>
          <a:xfrm>
            <a:off x="770081" y="2041900"/>
            <a:ext cx="5087060" cy="1781424"/>
          </a:xfrm>
          <a:prstGeom prst="rect">
            <a:avLst/>
          </a:prstGeom>
        </p:spPr>
      </p:pic>
      <p:pic>
        <p:nvPicPr>
          <p:cNvPr id="6" name="Picture 5">
            <a:extLst>
              <a:ext uri="{FF2B5EF4-FFF2-40B4-BE49-F238E27FC236}">
                <a16:creationId xmlns:a16="http://schemas.microsoft.com/office/drawing/2014/main" id="{C7407D2D-8C43-4376-A0C8-C507F91034D1}"/>
              </a:ext>
            </a:extLst>
          </p:cNvPr>
          <p:cNvPicPr>
            <a:picLocks noChangeAspect="1"/>
          </p:cNvPicPr>
          <p:nvPr/>
        </p:nvPicPr>
        <p:blipFill>
          <a:blip r:embed="rId3"/>
          <a:stretch>
            <a:fillRect/>
          </a:stretch>
        </p:blipFill>
        <p:spPr>
          <a:xfrm>
            <a:off x="6938723" y="2041901"/>
            <a:ext cx="3781953" cy="1596176"/>
          </a:xfrm>
          <a:prstGeom prst="rect">
            <a:avLst/>
          </a:prstGeom>
        </p:spPr>
      </p:pic>
      <p:sp>
        <p:nvSpPr>
          <p:cNvPr id="7" name="TextBox 6">
            <a:extLst>
              <a:ext uri="{FF2B5EF4-FFF2-40B4-BE49-F238E27FC236}">
                <a16:creationId xmlns:a16="http://schemas.microsoft.com/office/drawing/2014/main" id="{0AE8329B-B66B-4D8E-8EC6-66AA14309976}"/>
              </a:ext>
            </a:extLst>
          </p:cNvPr>
          <p:cNvSpPr txBox="1"/>
          <p:nvPr/>
        </p:nvSpPr>
        <p:spPr>
          <a:xfrm>
            <a:off x="1210728" y="854330"/>
            <a:ext cx="9292825"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What is the global average GDP , Emission and population by year?</a:t>
            </a:r>
          </a:p>
        </p:txBody>
      </p:sp>
      <p:pic>
        <p:nvPicPr>
          <p:cNvPr id="10" name="Picture 2" descr="Electricity Consumption icon. 3d illustration from ecology and energy  collection. Creative Electricity Consumption 3d icon for web design,  templates, infographics and more 45652088 Vector Art at Vecteezy">
            <a:extLst>
              <a:ext uri="{FF2B5EF4-FFF2-40B4-BE49-F238E27FC236}">
                <a16:creationId xmlns:a16="http://schemas.microsoft.com/office/drawing/2014/main" id="{21EFC445-5A49-4C68-8E3C-4B979F235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7593" y="4714875"/>
            <a:ext cx="3102000" cy="2143125"/>
          </a:xfrm>
          <a:prstGeom prst="rect">
            <a:avLst/>
          </a:prstGeom>
          <a:noFill/>
          <a:effectLst>
            <a:softEdge rad="12700"/>
          </a:effectLst>
          <a:scene3d>
            <a:camera prst="orthographicFront"/>
            <a:lightRig rig="threePt" dir="t"/>
          </a:scene3d>
          <a:sp3d>
            <a:bevelT w="127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143974"/>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F92CA-08B1-44A6-A35E-33B1A374D3BB}"/>
              </a:ext>
            </a:extLst>
          </p:cNvPr>
          <p:cNvSpPr>
            <a:spLocks noGrp="1"/>
          </p:cNvSpPr>
          <p:nvPr>
            <p:ph type="title"/>
          </p:nvPr>
        </p:nvSpPr>
        <p:spPr/>
        <p:txBody>
          <a:bodyPr>
            <a:normAutofit fontScale="90000"/>
          </a:bodyPr>
          <a:lstStyle/>
          <a:p>
            <a:r>
              <a:rPr lang="en-US" b="1" dirty="0">
                <a:latin typeface="Algerian" panose="04020705040A02060702" pitchFamily="82" charset="0"/>
              </a:rPr>
              <a:t>Final business insights and recommendations</a:t>
            </a:r>
            <a:br>
              <a:rPr lang="en-US" sz="4400" dirty="0"/>
            </a:br>
            <a:endParaRPr lang="en-US" dirty="0"/>
          </a:p>
        </p:txBody>
      </p:sp>
      <p:sp>
        <p:nvSpPr>
          <p:cNvPr id="4" name="Rectangle 1">
            <a:extLst>
              <a:ext uri="{FF2B5EF4-FFF2-40B4-BE49-F238E27FC236}">
                <a16:creationId xmlns:a16="http://schemas.microsoft.com/office/drawing/2014/main" id="{E56248B6-D5D6-4FD0-AB7B-9F7DE6404BAE}"/>
              </a:ext>
            </a:extLst>
          </p:cNvPr>
          <p:cNvSpPr>
            <a:spLocks noGrp="1" noChangeArrowheads="1"/>
          </p:cNvSpPr>
          <p:nvPr>
            <p:ph type="body" idx="1"/>
          </p:nvPr>
        </p:nvSpPr>
        <p:spPr bwMode="auto">
          <a:xfrm>
            <a:off x="656408" y="1690688"/>
            <a:ext cx="1087918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Energy Deficit Trap: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Despite high production, major economies like China and India face significant deficits (Consumption &gt; Production), driving a reliance on imports compared to net exporters like Russia.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Dominant Emission Drivers: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Coal remains the leading specific contributor to emissions (~64k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MMtonnes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proving that heavy industry continues to rely on the most carbon-intensive fuel sources.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Efficiency Paradox:</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GDP does not equal high inefficiency; smaller nations like Trinidad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Tobago often exhibit far higher energy intensity (wastefulness per dollar of GDP) than economic superpowers.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Concentration: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top three nations (China, USA, India) generate over 53% of global emissions, meaning targeted reductions here outweigh total net-zero efforts in dozens of smaller nations.</a:t>
            </a:r>
          </a:p>
        </p:txBody>
      </p:sp>
    </p:spTree>
    <p:extLst>
      <p:ext uri="{BB962C8B-B14F-4D97-AF65-F5344CB8AC3E}">
        <p14:creationId xmlns:p14="http://schemas.microsoft.com/office/powerpoint/2010/main" val="209621221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775B93-1358-4BBE-B463-D3618636C2E5}"/>
              </a:ext>
            </a:extLst>
          </p:cNvPr>
          <p:cNvSpPr>
            <a:spLocks noGrp="1"/>
          </p:cNvSpPr>
          <p:nvPr>
            <p:ph type="title"/>
          </p:nvPr>
        </p:nvSpPr>
        <p:spPr/>
        <p:txBody>
          <a:bodyPr>
            <a:normAutofit/>
          </a:bodyPr>
          <a:lstStyle/>
          <a:p>
            <a:pPr algn="ctr"/>
            <a:r>
              <a:rPr lang="en-IN" sz="3200" b="1" dirty="0">
                <a:latin typeface="Algerian" panose="04020705040A02060702" pitchFamily="82" charset="0"/>
              </a:rPr>
              <a:t>Conclusion</a:t>
            </a:r>
            <a:endParaRPr lang="en-US" sz="3200" dirty="0">
              <a:latin typeface="Algerian" panose="04020705040A02060702" pitchFamily="82" charset="0"/>
            </a:endParaRPr>
          </a:p>
        </p:txBody>
      </p:sp>
      <p:sp>
        <p:nvSpPr>
          <p:cNvPr id="2" name="Text Placeholder 1">
            <a:extLst>
              <a:ext uri="{FF2B5EF4-FFF2-40B4-BE49-F238E27FC236}">
                <a16:creationId xmlns:a16="http://schemas.microsoft.com/office/drawing/2014/main" id="{1310FD78-6B62-4653-B026-319F04062939}"/>
              </a:ext>
            </a:extLst>
          </p:cNvPr>
          <p:cNvSpPr>
            <a:spLocks noGrp="1" noChangeArrowheads="1"/>
          </p:cNvSpPr>
          <p:nvPr>
            <p:ph type="body" idx="1"/>
          </p:nvPr>
        </p:nvSpPr>
        <p:spPr bwMode="auto">
          <a:xfrm>
            <a:off x="298268" y="2014166"/>
            <a:ext cx="1159546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Unabated Growth: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Global emissions persist on an upward trajectory, rising from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67,852</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2020 to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74,161</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2023,outpacing current interventions.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Industrial Impact: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Population is not the sole driver; despite similar demographics (~1.4B),</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China emits ~4x more than India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(24k vs 5.6k) due to its heavy industrial energy mix.</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Decoupling: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confirms that sustainable growth is possible, as select nations have maintained GDP growth while stabilizing emissions (lowering emission-to-GDP ratios).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integrated SQL analysis reveals a global economy that is growing wealthier but </a:t>
            </a:r>
          </a:p>
          <a:p>
            <a:pPr marL="0" marR="0" lvl="0" indent="0"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increasingly polarized between energy "Net Exporters" and reliant "Net Importers".</a:t>
            </a:r>
          </a:p>
        </p:txBody>
      </p:sp>
    </p:spTree>
    <p:extLst>
      <p:ext uri="{BB962C8B-B14F-4D97-AF65-F5344CB8AC3E}">
        <p14:creationId xmlns:p14="http://schemas.microsoft.com/office/powerpoint/2010/main" val="2006815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wipe/>
  </p:transition>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TM04033925[[fn=Droplet]]</Template>
  <TotalTime>1062</TotalTime>
  <Words>641</Words>
  <Application>Microsoft Office PowerPoint</Application>
  <PresentationFormat>Widescreen</PresentationFormat>
  <Paragraphs>61</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Roboto</vt:lpstr>
      <vt:lpstr>Arial</vt:lpstr>
      <vt:lpstr>Algerian</vt:lpstr>
      <vt:lpstr>Times New Roman</vt:lpstr>
      <vt:lpstr>Tw Cen MT</vt:lpstr>
      <vt:lpstr>Libre Baskerville</vt:lpstr>
      <vt:lpstr>Calibri</vt:lpstr>
      <vt:lpstr>Droplet</vt:lpstr>
      <vt:lpstr>PowerPoint Presentation</vt:lpstr>
      <vt:lpstr>Objective of the Project </vt:lpstr>
      <vt:lpstr>ER Diagram and schema explanation </vt:lpstr>
      <vt:lpstr>PowerPoint Presentation</vt:lpstr>
      <vt:lpstr>TABLES</vt:lpstr>
      <vt:lpstr>Problem statement</vt:lpstr>
      <vt:lpstr>Efficiency &amp; Sustainability </vt:lpstr>
      <vt:lpstr>PowerPoint Presentation</vt:lpstr>
      <vt:lpstr>PowerPoint Presentation</vt:lpstr>
      <vt:lpstr>PowerPoint Presentation</vt:lpstr>
      <vt:lpstr>Correlation &amp; Cause"</vt:lpstr>
      <vt:lpstr>PowerPoint Presentation</vt:lpstr>
      <vt:lpstr>PowerPoint Presentation</vt:lpstr>
      <vt:lpstr>PowerPoint Presentation</vt:lpstr>
      <vt:lpstr>Trend &amp; Forecast</vt:lpstr>
      <vt:lpstr>PowerPoint Presentation</vt:lpstr>
      <vt:lpstr>PowerPoint Presentation</vt:lpstr>
      <vt:lpstr>PowerPoint Presentation</vt:lpstr>
      <vt:lpstr>Global Context</vt:lpstr>
      <vt:lpstr>PowerPoint Presentation</vt:lpstr>
      <vt:lpstr>PowerPoint Presentation</vt:lpstr>
      <vt:lpstr>Final business insights and recommendations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USER</cp:lastModifiedBy>
  <cp:revision>52</cp:revision>
  <dcterms:created xsi:type="dcterms:W3CDTF">2021-02-16T05:19:01Z</dcterms:created>
  <dcterms:modified xsi:type="dcterms:W3CDTF">2025-12-02T13:50:08Z</dcterms:modified>
</cp:coreProperties>
</file>